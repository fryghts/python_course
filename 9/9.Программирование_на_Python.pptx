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4"/>
  </p:notesMasterIdLst>
  <p:handoutMasterIdLst>
    <p:handoutMasterId r:id="rId15"/>
  </p:handoutMasterIdLst>
  <p:sldIdLst>
    <p:sldId id="300" r:id="rId6"/>
    <p:sldId id="298" r:id="rId7"/>
    <p:sldId id="309" r:id="rId8"/>
    <p:sldId id="310" r:id="rId9"/>
    <p:sldId id="311" r:id="rId10"/>
    <p:sldId id="317" r:id="rId11"/>
    <p:sldId id="314" r:id="rId12"/>
    <p:sldId id="312" r:id="rId13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uneex.ru/Python/GeoPython2021/06_Functions#CA-6e855ce4d7fd60c769f9dedd4b20d3e00af7c281_1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uneex.ru/Python/GeoPython2021/06_Functions#CA-7894092fb682e984ce809977bffb9a2fafbb8585_8" TargetMode="External"/><Relationship Id="rId3" Type="http://schemas.openxmlformats.org/officeDocument/2006/relationships/hyperlink" Target="http://uneex.ru/Python/GeoPython2021/06_Functions#CA-7894092fb682e984ce809977bffb9a2fafbb8585_2" TargetMode="External"/><Relationship Id="rId7" Type="http://schemas.openxmlformats.org/officeDocument/2006/relationships/hyperlink" Target="http://uneex.ru/Python/GeoPython2021/06_Functions#CA-7894092fb682e984ce809977bffb9a2fafbb8585_7" TargetMode="External"/><Relationship Id="rId2" Type="http://schemas.openxmlformats.org/officeDocument/2006/relationships/hyperlink" Target="http://uneex.ru/Python/GeoPython2021/06_Functions#CA-7894092fb682e984ce809977bffb9a2fafbb8585_1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uneex.ru/Python/GeoPython2021/06_Functions#CA-7894092fb682e984ce809977bffb9a2fafbb8585_5" TargetMode="External"/><Relationship Id="rId5" Type="http://schemas.openxmlformats.org/officeDocument/2006/relationships/hyperlink" Target="http://uneex.ru/Python/GeoPython2021/06_Functions#CA-7894092fb682e984ce809977bffb9a2fafbb8585_4" TargetMode="External"/><Relationship Id="rId10" Type="http://schemas.openxmlformats.org/officeDocument/2006/relationships/hyperlink" Target="http://uneex.ru/Python/GeoPython2021/06_Functions#CA-6e855ce4d7fd60c769f9dedd4b20d3e00af7c281_1" TargetMode="External"/><Relationship Id="rId4" Type="http://schemas.openxmlformats.org/officeDocument/2006/relationships/hyperlink" Target="http://uneex.ru/Python/GeoPython2021/06_Functions#CA-7894092fb682e984ce809977bffb9a2fafbb8585_3" TargetMode="External"/><Relationship Id="rId9" Type="http://schemas.openxmlformats.org/officeDocument/2006/relationships/hyperlink" Target="http://uneex.ru/Python/GeoPython2021/06_Functions#CA-7894092fb682e984ce809977bffb9a2fafbb8585_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uneex.ru/Python/GeoPython2021/06_Functions#CA-6e855ce4d7fd60c769f9dedd4b20d3e00af7c281_1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Функции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153118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9.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5124" y="1711966"/>
            <a:ext cx="5208475" cy="225722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Функция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это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именованный блок кода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для решения конкретной задачи.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Обеспечивает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повторное использование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алгоритма с разными входными данными.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ример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Формула площади треугольника 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f(a, b, c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используется для разных наборов сторон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429366" y="4428999"/>
            <a:ext cx="3584315" cy="830997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2"/>
              </a:rPr>
              <a:t>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def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функция(параметры): </a:t>
            </a:r>
          </a:p>
          <a:p>
            <a:pPr lvl="0"/>
            <a:r>
              <a:rPr lang="ru-RU" altLang="ru-RU" dirty="0" smtClean="0">
                <a:solidFill>
                  <a:srgbClr val="4477FF"/>
                </a:solidFill>
                <a:latin typeface="courier"/>
                <a:hlinkClick r:id="rId2"/>
              </a:rPr>
              <a:t>2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     тело</a:t>
            </a:r>
            <a:r>
              <a:rPr lang="ru-RU" altLang="ru-RU" dirty="0" smtClean="0"/>
              <a:t> </a:t>
            </a:r>
          </a:p>
          <a:p>
            <a:r>
              <a:rPr lang="ru-RU" altLang="ru-RU" dirty="0" smtClean="0">
                <a:solidFill>
                  <a:srgbClr val="4477FF"/>
                </a:solidFill>
                <a:latin typeface="courier"/>
                <a:hlinkClick r:id="rId2"/>
              </a:rPr>
              <a:t>3</a:t>
            </a:r>
            <a:r>
              <a:rPr lang="ru-RU" altLang="ru-RU" dirty="0" smtClean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return 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результат</a:t>
            </a:r>
            <a:r>
              <a:rPr lang="ru-RU" altLang="ru-RU" dirty="0" smtClean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221524" y="1711966"/>
            <a:ext cx="5706951" cy="225722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Оператор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return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Немедленно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завершает выполнение функции.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Возвращает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результат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который может быть использован в других выражениях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явным образом не вызван, то автоматически в конце блока функции вызывается </a:t>
            </a:r>
            <a:r>
              <a:rPr lang="en-US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return None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Пространства имён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0331" y="1272988"/>
            <a:ext cx="10903430" cy="470647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Определение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функции содержит 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формальные параметры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— имена, которые будут использоваться для алгоритма </a:t>
            </a: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время работы функции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Вызов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функции содержит 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фактические параметры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— выражения, которые будут вычислены, а результаты — переданы в функцию, чтобы она их там поименовала и работала с ними.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Пространство имён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— место где лежат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имена.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Возвращается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Видимость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имён: локальные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locals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~=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и глобальные 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globals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внутри функции используется имя = что-то,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всегда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считает это имя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локальным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даже если глобально существует одноимённая переменная. 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Правило поиска имён внутри функции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Сначала ищем в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локальном пространстве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Если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это имя не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найдено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в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глобальном (если найдено, то не ищем)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мена, к которым обращаются вне текущей области видимости, не переопределяются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3370" y="1244812"/>
            <a:ext cx="10827312" cy="478843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строго типизируемы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Нет возможности проделать операцию над объектом некоторого типа, если для него она не определена, даже если для объектов другого типа она есть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Например, нельзя непосредственно сложить строку с числом, хотя есть преобразование строки в число и сложение двух строк — оба действия надо делать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явно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Имена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типизируемы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могут связывать какие угодно объекты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Хотя считается плохим стилем называть одним именем </a:t>
            </a: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одном и том же контексте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сначала объекты одного типа, а затем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другого</a:t>
            </a: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Функция 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это </a:t>
            </a: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запись алгоритма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в которой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упоминаются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только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имена объектов и операции над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ними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качестве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параметров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функции годятся </a:t>
            </a: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любые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объекты, поддерживающие операции, которые использованы в функции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том, что объекты </a:t>
            </a:r>
            <a:r>
              <a:rPr lang="ru-RU" altLang="ru-RU" sz="1800" i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годятся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вы узнаете только когда уже вызовите функцию, и неподдерживаемая операция начнёт выполняться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вам нужно проверить тип объекта, проверяйте (как минимум 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 == 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или в общей форме 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isinstance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(объект, тип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Duck typing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 как объекты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370" y="2011280"/>
            <a:ext cx="10827312" cy="299999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функции не просто блоки кода, а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полноценные объекты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Это означает, что их можно: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Присваивать переменным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f =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или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my_func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another_func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Передавать как аргументы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другие функции.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Возвращать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из других функций.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Хранить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структурах данных (списках, словарях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Лямбда-функции — это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анонимные (безымянные)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однострочные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функции.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Синтаксис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lambda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аргументы: выражение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Применяются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для простых, коротких операций, когда не требуется полное определение через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Чаще всего используются в качестве аргументов для функций высшего порядка 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filter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40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Позиционные и </a:t>
            </a:r>
            <a:r>
              <a:rPr lang="ru-RU" sz="2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именованные</a:t>
            </a:r>
            <a:r>
              <a:rPr lang="en-US" sz="2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параметры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79343" y="1138518"/>
            <a:ext cx="10940277" cy="5179732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Параметры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 </a:t>
            </a:r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значением по умолчанию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являются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необязательными для указания при вызове:</a:t>
            </a: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позволяет создавать функции, которые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обязательно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требуют, чтобы некоторые аргументы передавались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только по имени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а не по позиции. Это улучшает читаемость кода и предотвращает ошибки.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Используется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специальный разделитель — звёздочка (*). Все аргументы, следующие за ней, должны быть именованными.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2803024" y="1659193"/>
            <a:ext cx="6892913" cy="249299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2"/>
              </a:rPr>
              <a:t>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def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fun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(x, a=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b=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c=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3"/>
              </a:rPr>
              <a:t>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"{x=}, {a=}, {b=}, {c=}"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4"/>
              </a:rPr>
              <a:t>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   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return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x * x * a -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4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* x * b + 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5"/>
              </a:rPr>
              <a:t>4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#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передача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параметров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6"/>
              </a:rPr>
              <a:t>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fun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4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)) 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#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по порядку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7"/>
              </a:rPr>
              <a:t>6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fun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))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#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необзятельные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можно пропустить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8"/>
              </a:rPr>
              <a:t>7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fun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8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9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9"/>
              </a:rPr>
              <a:t>8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fun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b=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7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)) </a:t>
            </a:r>
            <a:r>
              <a:rPr kumimoji="0" lang="en-US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#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можно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передавать по имени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r>
              <a:rPr lang="ru-RU" altLang="ru-RU" dirty="0">
                <a:solidFill>
                  <a:srgbClr val="4477FF"/>
                </a:solidFill>
                <a:latin typeface="courier"/>
                <a:hlinkClick r:id="rId9"/>
              </a:rPr>
              <a:t>9</a:t>
            </a:r>
            <a:r>
              <a:rPr lang="ru-RU" altLang="ru-RU" dirty="0">
                <a:solidFill>
                  <a:srgbClr val="808080"/>
                </a:solidFill>
                <a:latin typeface="courier"/>
              </a:rPr>
              <a:t> </a:t>
            </a:r>
            <a:r>
              <a:rPr lang="ru-RU" altLang="ru-RU" dirty="0" err="1" smtClean="0">
                <a:solidFill>
                  <a:srgbClr val="A00000"/>
                </a:solidFill>
                <a:latin typeface="courier"/>
              </a:rPr>
              <a:t>print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(</a:t>
            </a:r>
            <a:r>
              <a:rPr lang="ru-RU" altLang="ru-RU" dirty="0" err="1" smtClean="0">
                <a:solidFill>
                  <a:srgbClr val="000000"/>
                </a:solidFill>
                <a:latin typeface="courier"/>
              </a:rPr>
              <a:t>fun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(b=</a:t>
            </a:r>
            <a:r>
              <a:rPr lang="ru-RU" altLang="ru-RU" dirty="0" smtClean="0">
                <a:solidFill>
                  <a:srgbClr val="0080C0"/>
                </a:solidFill>
                <a:latin typeface="courier"/>
              </a:rPr>
              <a:t>7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, c=</a:t>
            </a:r>
            <a:r>
              <a:rPr lang="en-US" altLang="ru-RU" dirty="0" smtClean="0">
                <a:solidFill>
                  <a:srgbClr val="0080C0"/>
                </a:solidFill>
                <a:latin typeface="courier"/>
              </a:rPr>
              <a:t>0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, x=</a:t>
            </a:r>
            <a:r>
              <a:rPr lang="en-US" altLang="ru-RU" dirty="0" smtClean="0">
                <a:solidFill>
                  <a:srgbClr val="0080C0"/>
                </a:solidFill>
                <a:latin typeface="courier"/>
              </a:rPr>
              <a:t>1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))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#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можно в любом порядке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2527308" y="5825737"/>
            <a:ext cx="7168629" cy="276999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10"/>
              </a:rPr>
              <a:t>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def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lang="en-US" altLang="ru-RU" dirty="0" err="1">
                <a:solidFill>
                  <a:srgbClr val="000000"/>
                </a:solidFill>
                <a:latin typeface="courier"/>
              </a:rPr>
              <a:t>create_user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(name, *, </a:t>
            </a:r>
            <a:r>
              <a:rPr lang="en-US" altLang="ru-RU" dirty="0" err="1">
                <a:solidFill>
                  <a:srgbClr val="000000"/>
                </a:solidFill>
                <a:latin typeface="courier"/>
              </a:rPr>
              <a:t>is_admin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, verbose=False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):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Аннотации типов</a:t>
            </a:r>
            <a:endParaRPr lang="ru-RU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806237" y="2086916"/>
            <a:ext cx="10940277" cy="2933319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Аннотации добавляют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информацию об </a:t>
            </a:r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ожидаемых типах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аргументов и возвращаемого </a:t>
            </a:r>
            <a:r>
              <a:rPr 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значения</a:t>
            </a:r>
            <a:r>
              <a:rPr lang="en-US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Статическая 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проверка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влияют на выполнение кода (интерпретатор их игнорирует). Используются внешними инструментами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для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статической проверки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кода без его запуска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Подсказка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некоторых 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указывают пользователю ожидаемые типы для функции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Документация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Значительно улучшают читаемость и понимание того, как функция должна использоваться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602951" y="2654615"/>
            <a:ext cx="4549322" cy="553998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2"/>
              </a:rPr>
              <a:t>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def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add(a: </a:t>
            </a:r>
            <a:r>
              <a:rPr lang="en-US" altLang="ru-RU" dirty="0" err="1">
                <a:solidFill>
                  <a:srgbClr val="000000"/>
                </a:solidFill>
                <a:latin typeface="courier"/>
              </a:rPr>
              <a:t>int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, b: </a:t>
            </a:r>
            <a:r>
              <a:rPr lang="en-US" altLang="ru-RU" dirty="0" err="1">
                <a:solidFill>
                  <a:srgbClr val="000000"/>
                </a:solidFill>
                <a:latin typeface="courier"/>
              </a:rPr>
              <a:t>int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) -&gt; </a:t>
            </a:r>
            <a:r>
              <a:rPr lang="en-US" altLang="ru-RU" dirty="0" err="1">
                <a:solidFill>
                  <a:srgbClr val="000000"/>
                </a:solidFill>
                <a:latin typeface="courier"/>
              </a:rPr>
              <a:t>int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: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lvl="0"/>
            <a:r>
              <a:rPr lang="ru-RU" altLang="ru-RU" dirty="0" smtClean="0">
                <a:solidFill>
                  <a:srgbClr val="4477FF"/>
                </a:solidFill>
                <a:latin typeface="courier"/>
                <a:hlinkClick r:id="rId2"/>
              </a:rPr>
              <a:t>2</a:t>
            </a:r>
            <a:r>
              <a:rPr lang="ru-RU" altLang="ru-RU" dirty="0" smtClean="0">
                <a:solidFill>
                  <a:srgbClr val="000000"/>
                </a:solidFill>
                <a:latin typeface="courier"/>
              </a:rPr>
              <a:t>     </a:t>
            </a:r>
            <a:r>
              <a:rPr lang="en-US" altLang="ru-RU" dirty="0">
                <a:solidFill>
                  <a:srgbClr val="000000"/>
                </a:solidFill>
                <a:latin typeface="courier"/>
              </a:rPr>
              <a:t>return a + </a:t>
            </a:r>
            <a:r>
              <a:rPr lang="en-US" altLang="ru-RU" dirty="0" smtClean="0">
                <a:solidFill>
                  <a:srgbClr val="000000"/>
                </a:solidFill>
                <a:latin typeface="courier"/>
              </a:rPr>
              <a:t>b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79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22342</TotalTime>
  <Words>465</Words>
  <Application>Microsoft Office PowerPoint</Application>
  <PresentationFormat>Широкоэкранный</PresentationFormat>
  <Paragraphs>92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Функции</vt:lpstr>
      <vt:lpstr>Пространства имён</vt:lpstr>
      <vt:lpstr>Duck typing</vt:lpstr>
      <vt:lpstr>Функции как объекты</vt:lpstr>
      <vt:lpstr>Позиционные и именованные параметры</vt:lpstr>
      <vt:lpstr>Аннотации типов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1191</cp:revision>
  <cp:lastPrinted>2019-09-16T14:00:21Z</cp:lastPrinted>
  <dcterms:created xsi:type="dcterms:W3CDTF">2019-09-13T09:31:10Z</dcterms:created>
  <dcterms:modified xsi:type="dcterms:W3CDTF">2025-10-23T08:22:03Z</dcterms:modified>
</cp:coreProperties>
</file>