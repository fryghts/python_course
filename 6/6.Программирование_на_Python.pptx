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2" r:id="rId1"/>
    <p:sldMasterId id="2147483864" r:id="rId2"/>
    <p:sldMasterId id="2147483866" r:id="rId3"/>
    <p:sldMasterId id="2147483869" r:id="rId4"/>
    <p:sldMasterId id="2147483872" r:id="rId5"/>
  </p:sldMasterIdLst>
  <p:notesMasterIdLst>
    <p:notesMasterId r:id="rId11"/>
  </p:notesMasterIdLst>
  <p:handoutMasterIdLst>
    <p:handoutMasterId r:id="rId12"/>
  </p:handoutMasterIdLst>
  <p:sldIdLst>
    <p:sldId id="300" r:id="rId6"/>
    <p:sldId id="298" r:id="rId7"/>
    <p:sldId id="306" r:id="rId8"/>
    <p:sldId id="307" r:id="rId9"/>
    <p:sldId id="308" r:id="rId10"/>
  </p:sldIdLst>
  <p:sldSz cx="12192000" cy="6858000"/>
  <p:notesSz cx="6889750" cy="10018713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2"/>
    <a:srgbClr val="000000"/>
    <a:srgbClr val="4A596A"/>
    <a:srgbClr val="0079C2"/>
    <a:srgbClr val="8A9BAE"/>
    <a:srgbClr val="0051A3"/>
    <a:srgbClr val="004181"/>
    <a:srgbClr val="43B7F7"/>
    <a:srgbClr val="929AA4"/>
    <a:srgbClr val="CCE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35" autoAdjust="0"/>
    <p:restoredTop sz="96318" autoAdjust="0"/>
  </p:normalViewPr>
  <p:slideViewPr>
    <p:cSldViewPr snapToGrid="0" showGuides="1">
      <p:cViewPr varScale="1">
        <p:scale>
          <a:sx n="54" d="100"/>
          <a:sy n="54" d="100"/>
        </p:scale>
        <p:origin x="240" y="4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52188"/>
    </p:cViewPr>
  </p:sorterViewPr>
  <p:notesViewPr>
    <p:cSldViewPr snapToGrid="0" showGuides="1">
      <p:cViewPr varScale="1">
        <p:scale>
          <a:sx n="77" d="100"/>
          <a:sy n="77" d="100"/>
        </p:scale>
        <p:origin x="2388" y="11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F1D0005-DD6C-4AA6-9543-B01BDE559B4D}" type="datetimeFigureOut">
              <a:rPr lang="ru-RU"/>
              <a:pPr>
                <a:defRPr/>
              </a:pPr>
              <a:t>07.10.2025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7D8B954-ADF2-4712-AA5A-2933941017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471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57AF103-4D3C-4EA1-B312-535F71B34CD3}" type="datetimeFigureOut">
              <a:rPr lang="ru-RU"/>
              <a:pPr>
                <a:defRPr/>
              </a:pPr>
              <a:t>07.10.2025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1800" cy="3944937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075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90AB973-3156-4A16-9C53-876BCC91BF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94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0AB973-3156-4A16-9C53-876BCC91BFC0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3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замены титу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5650" y="-3175"/>
            <a:ext cx="6356350" cy="3648755"/>
          </a:xfrm>
          <a:prstGeom prst="rect">
            <a:avLst/>
          </a:prstGeom>
          <a:effectLst/>
        </p:spPr>
      </p:pic>
      <p:sp>
        <p:nvSpPr>
          <p:cNvPr id="20" name="Прямоугольник с двумя усеченными противолежащими углами 19"/>
          <p:cNvSpPr/>
          <p:nvPr/>
        </p:nvSpPr>
        <p:spPr>
          <a:xfrm>
            <a:off x="-1" y="0"/>
            <a:ext cx="10056813" cy="2336800"/>
          </a:xfrm>
          <a:prstGeom prst="snip2Diag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80000">
                <a:srgbClr val="FFFFFF">
                  <a:alpha val="90000"/>
                </a:srgbClr>
              </a:gs>
              <a:gs pos="67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6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Текст 14"/>
          <p:cNvSpPr>
            <a:spLocks noGrp="1"/>
          </p:cNvSpPr>
          <p:nvPr>
            <p:ph type="body" sz="quarter" idx="11" hasCustomPrompt="1"/>
          </p:nvPr>
        </p:nvSpPr>
        <p:spPr>
          <a:xfrm>
            <a:off x="2243139" y="6340515"/>
            <a:ext cx="91820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lang="ru-RU" sz="1800" b="0" kern="1200" spc="6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2243139" y="1665289"/>
            <a:ext cx="7453312" cy="2342788"/>
          </a:xfrm>
          <a:prstGeom prst="rect">
            <a:avLst/>
          </a:prstGeom>
        </p:spPr>
        <p:txBody>
          <a:bodyPr lIns="0" tIns="0" rIns="0" bIns="72000" anchor="ctr" anchorCtr="0"/>
          <a:lstStyle>
            <a:lvl1pPr marL="0" marR="0" indent="0" algn="l" defTabSz="1217613" rtl="0" eaLnBrk="0" fontAlgn="base" latinLnBrk="0" hangingPunct="0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40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10721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 15"/>
          <p:cNvSpPr/>
          <p:nvPr/>
        </p:nvSpPr>
        <p:spPr>
          <a:xfrm>
            <a:off x="0" y="1268413"/>
            <a:ext cx="10056814" cy="4537301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Текст 2"/>
          <p:cNvSpPr>
            <a:spLocks noGrp="1"/>
          </p:cNvSpPr>
          <p:nvPr>
            <p:ph type="body" sz="quarter" idx="10" hasCustomPrompt="1"/>
          </p:nvPr>
        </p:nvSpPr>
        <p:spPr>
          <a:xfrm>
            <a:off x="2243138" y="1665287"/>
            <a:ext cx="7453312" cy="3635375"/>
          </a:xfrm>
          <a:prstGeom prst="rect">
            <a:avLst/>
          </a:prstGeom>
        </p:spPr>
        <p:txBody>
          <a:bodyPr lIns="0" tIns="0" rIns="0" bIns="72000" anchor="ctr" anchorCtr="0"/>
          <a:lstStyle>
            <a:lvl1pPr>
              <a:lnSpc>
                <a:spcPts val="4400"/>
              </a:lnSpc>
              <a:spcBef>
                <a:spcPts val="0"/>
              </a:spcBef>
              <a:defRPr sz="4000" b="0" spc="6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25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 с долж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Полилиния 23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4" hasCustomPrompt="1"/>
          </p:nvPr>
        </p:nvSpPr>
        <p:spPr>
          <a:xfrm>
            <a:off x="2252662" y="1665287"/>
            <a:ext cx="7443788" cy="2339978"/>
          </a:xfrm>
          <a:prstGeom prst="rect">
            <a:avLst/>
          </a:prstGeom>
        </p:spPr>
        <p:txBody>
          <a:bodyPr lIns="0" tIns="0" rIns="0" bIns="72000" anchor="ctr" anchorCtr="0"/>
          <a:lstStyle>
            <a:lvl1pPr indent="0">
              <a:lnSpc>
                <a:spcPts val="4400"/>
              </a:lnSpc>
              <a:spcBef>
                <a:spcPts val="0"/>
              </a:spcBef>
              <a:defRPr sz="4000" b="0" spc="4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</p:spTree>
    <p:extLst>
      <p:ext uri="{BB962C8B-B14F-4D97-AF65-F5344CB8AC3E}">
        <p14:creationId xmlns:p14="http://schemas.microsoft.com/office/powerpoint/2010/main" val="3241463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2246928" y="152400"/>
            <a:ext cx="9681547" cy="83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ru-RU" altLang="ru-RU" dirty="0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rot="16200000">
            <a:off x="1567877" y="591822"/>
            <a:ext cx="926302" cy="0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26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69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Текст 5"/>
          <p:cNvSpPr txBox="1">
            <a:spLocks/>
          </p:cNvSpPr>
          <p:nvPr/>
        </p:nvSpPr>
        <p:spPr>
          <a:xfrm>
            <a:off x="2243138" y="1665288"/>
            <a:ext cx="7453312" cy="2339977"/>
          </a:xfrm>
          <a:prstGeom prst="rect">
            <a:avLst/>
          </a:prstGeom>
        </p:spPr>
        <p:txBody>
          <a:bodyPr lIns="0" tIns="0" rIns="0" bIns="72000" anchor="ctr" anchorCtr="0">
            <a:noAutofit/>
          </a:bodyPr>
          <a:lstStyle>
            <a:lvl1pPr marL="0" marR="0" indent="0" algn="l" defTabSz="1217613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34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  <a:lvl2pPr indent="-3794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2pPr>
            <a:lvl3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3pPr>
            <a:lvl4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4pPr>
            <a:lvl5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2045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335">
          <p15:clr>
            <a:srgbClr val="FBAE40"/>
          </p15:clr>
        </p15:guide>
        <p15:guide id="7" pos="6108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8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514">
          <p15:clr>
            <a:srgbClr val="F26B43"/>
          </p15:clr>
        </p15:guide>
        <p15:guide id="2" pos="166">
          <p15:clr>
            <a:srgbClr val="F26B43"/>
          </p15:clr>
        </p15:guide>
        <p15:guide id="3" pos="1277">
          <p15:clr>
            <a:srgbClr val="F26B43"/>
          </p15:clr>
        </p15:guide>
        <p15:guide id="4" pos="1413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96">
          <p15:clr>
            <a:srgbClr val="F26B43"/>
          </p15:clr>
        </p15:guide>
        <p15:guide id="7" orient="horz" pos="572">
          <p15:clr>
            <a:srgbClr val="F26B43"/>
          </p15:clr>
        </p15:guide>
        <p15:guide id="8" orient="horz" pos="66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1049">
          <p15:clr>
            <a:srgbClr val="F26B43"/>
          </p15:clr>
        </p15:guide>
        <p15:guide id="12" orient="horz" pos="2296">
          <p15:clr>
            <a:srgbClr val="F26B43"/>
          </p15:clr>
        </p15:guide>
        <p15:guide id="13" orient="horz" pos="2772">
          <p15:clr>
            <a:srgbClr val="F26B43"/>
          </p15:clr>
        </p15:guide>
        <p15:guide id="14" orient="horz" pos="2976">
          <p15:clr>
            <a:srgbClr val="F26B43"/>
          </p15:clr>
        </p15:guide>
        <p15:guide id="15" pos="6108">
          <p15:clr>
            <a:srgbClr val="F26B43"/>
          </p15:clr>
        </p15:guide>
        <p15:guide id="16" pos="6335">
          <p15:clr>
            <a:srgbClr val="F26B43"/>
          </p15:clr>
        </p15:guide>
        <p15:guide id="17" pos="7197">
          <p15:clr>
            <a:srgbClr val="F26B43"/>
          </p15:clr>
        </p15:guide>
        <p15:guide id="18" orient="horz" pos="2523">
          <p15:clr>
            <a:srgbClr val="F26B43"/>
          </p15:clr>
        </p15:guide>
        <p15:guide id="19" orient="horz" pos="3498">
          <p15:clr>
            <a:srgbClr val="F26B43"/>
          </p15:clr>
        </p15:guide>
        <p15:guide id="20" orient="horz" pos="365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6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97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3"/>
          <p:cNvSpPr txBox="1">
            <a:spLocks/>
          </p:cNvSpPr>
          <p:nvPr/>
        </p:nvSpPr>
        <p:spPr>
          <a:xfrm>
            <a:off x="279400" y="6351587"/>
            <a:ext cx="1228725" cy="28733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CA8AB40-D8E0-485A-87A4-1EECBD8ABE01}" type="slidenum">
              <a:rPr lang="ru-RU" sz="1867" b="1">
                <a:solidFill>
                  <a:srgbClr val="0079C2"/>
                </a:solidFill>
                <a:latin typeface="Arial Narrow" pitchFamily="34" charset="0"/>
              </a:rPr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867" b="1" dirty="0">
              <a:solidFill>
                <a:srgbClr val="0079C2"/>
              </a:solidFill>
              <a:latin typeface="Arial Narrow" pitchFamily="34" charset="0"/>
            </a:endParaRPr>
          </a:p>
        </p:txBody>
      </p:sp>
      <p:sp>
        <p:nvSpPr>
          <p:cNvPr id="3083" name="Line 7"/>
          <p:cNvSpPr>
            <a:spLocks noChangeShapeType="1"/>
          </p:cNvSpPr>
          <p:nvPr/>
        </p:nvSpPr>
        <p:spPr bwMode="auto">
          <a:xfrm>
            <a:off x="2025650" y="6307301"/>
            <a:ext cx="0" cy="371149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40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246928" y="6318250"/>
            <a:ext cx="9681547" cy="354013"/>
          </a:xfrm>
          <a:prstGeom prst="rect">
            <a:avLst/>
          </a:prstGeom>
        </p:spPr>
        <p:txBody>
          <a:bodyPr lIns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79C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mtClean="0"/>
              <a:t>Введение в </a:t>
            </a:r>
            <a:r>
              <a:rPr lang="en-US" altLang="ru-RU" smtClean="0"/>
              <a:t>Python</a:t>
            </a:r>
            <a:endParaRPr lang="ru-RU" altLang="ru-RU" dirty="0"/>
          </a:p>
        </p:txBody>
      </p:sp>
      <p:grpSp>
        <p:nvGrpSpPr>
          <p:cNvPr id="22" name="Группа 21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998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</p:sldLayoutIdLst>
  <p:hf sldNum="0" hdr="0" dt="0"/>
  <p:txStyles>
    <p:titleStyle>
      <a:lvl1pPr algn="l" defTabSz="1217613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lang="ru-RU" sz="2600" b="1" kern="1200" dirty="0">
          <a:solidFill>
            <a:srgbClr val="0079C2"/>
          </a:solidFill>
          <a:latin typeface="Arial Narrow" pitchFamily="34" charset="0"/>
          <a:ea typeface="+mj-ea"/>
          <a:cs typeface="+mj-cs"/>
        </a:defRPr>
      </a:lvl1pPr>
      <a:lvl2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2pPr>
      <a:lvl3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3pPr>
      <a:lvl4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4pPr>
      <a:lvl5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5pPr>
      <a:lvl6pPr marL="4572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6pPr>
      <a:lvl7pPr marL="9144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7pPr>
      <a:lvl8pPr marL="13716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8pPr>
      <a:lvl9pPr marL="18288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2000" kern="1200" dirty="0">
          <a:solidFill>
            <a:srgbClr val="000000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orient="horz" pos="3793">
          <p15:clr>
            <a:srgbClr val="F26B43"/>
          </p15:clr>
        </p15:guide>
        <p15:guide id="3" orient="horz" pos="845">
          <p15:clr>
            <a:srgbClr val="F26B43"/>
          </p15:clr>
        </p15:guide>
        <p15:guide id="4" orient="horz" pos="663">
          <p15:clr>
            <a:srgbClr val="F26B43"/>
          </p15:clr>
        </p15:guide>
        <p15:guide id="5" pos="1277">
          <p15:clr>
            <a:srgbClr val="F26B43"/>
          </p15:clr>
        </p15:guide>
        <p15:guide id="6" orient="horz" pos="572">
          <p15:clr>
            <a:srgbClr val="F26B43"/>
          </p15:clr>
        </p15:guide>
        <p15:guide id="7" pos="1413">
          <p15:clr>
            <a:srgbClr val="F26B43"/>
          </p15:clr>
        </p15:guide>
        <p15:guide id="8" pos="7514">
          <p15:clr>
            <a:srgbClr val="F26B43"/>
          </p15:clr>
        </p15:guide>
        <p15:guide id="9" pos="16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88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2274696" y="2127996"/>
            <a:ext cx="7443788" cy="2339978"/>
          </a:xfrm>
        </p:spPr>
        <p:txBody>
          <a:bodyPr/>
          <a:lstStyle/>
          <a:p>
            <a:pPr algn="ctr">
              <a:lnSpc>
                <a:spcPts val="6000"/>
              </a:lnSpc>
            </a:pPr>
            <a:r>
              <a:rPr lang="ru-RU" sz="4400" b="1" dirty="0"/>
              <a:t>Технология программирования и автоматизация обработки данных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696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Google Shape;97;p15"/>
          <p:cNvSpPr txBox="1">
            <a:spLocks/>
          </p:cNvSpPr>
          <p:nvPr/>
        </p:nvSpPr>
        <p:spPr>
          <a:xfrm>
            <a:off x="2390148" y="2252205"/>
            <a:ext cx="10653824" cy="17045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1217613" rtl="0" eaLnBrk="1" fontAlgn="base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lang="ru-RU" sz="2600" b="1" kern="1200" dirty="0">
                <a:solidFill>
                  <a:srgbClr val="0079C2"/>
                </a:solidFill>
                <a:latin typeface="Arial Narrow" pitchFamily="34" charset="0"/>
                <a:ea typeface="+mj-ea"/>
                <a:cs typeface="+mj-cs"/>
              </a:defRPr>
            </a:lvl1pPr>
            <a:lvl2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2pPr>
            <a:lvl3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3pPr>
            <a:lvl4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4pPr>
            <a:lvl5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5pPr>
            <a:lvl6pPr marL="4572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6pPr>
            <a:lvl7pPr marL="9144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7pPr>
            <a:lvl8pPr marL="13716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8pPr>
            <a:lvl9pPr marL="18288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800" dirty="0" smtClean="0"/>
              <a:t>Последовательности и </a:t>
            </a:r>
          </a:p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800" dirty="0"/>
              <a:t>ц</a:t>
            </a:r>
            <a:r>
              <a:rPr lang="ru-RU" sz="4800" dirty="0" smtClean="0"/>
              <a:t>икл </a:t>
            </a:r>
            <a:r>
              <a:rPr lang="en-US" sz="4800" dirty="0" smtClean="0"/>
              <a:t>for</a:t>
            </a:r>
            <a:endParaRPr lang="ru-RU" sz="4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65088" y="1576867"/>
            <a:ext cx="1531188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5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6</a:t>
            </a:r>
            <a:r>
              <a:rPr lang="ru-RU" sz="11500" b="1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. </a:t>
            </a:r>
            <a:endParaRPr lang="ru-RU" sz="115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29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87177" y="2036008"/>
            <a:ext cx="11541298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1</a:t>
            </a:r>
          </a:p>
          <a:p>
            <a:r>
              <a:rPr 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Даны два целых числа </a:t>
            </a:r>
            <a:r>
              <a:rPr 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и </a:t>
            </a:r>
            <a:r>
              <a:rPr 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  <a:r>
              <a:rPr 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Выведите все числа от A до B </a:t>
            </a:r>
            <a:r>
              <a:rPr 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включительно</a:t>
            </a:r>
            <a:r>
              <a:rPr 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в порядке возрастания, если A&lt;B, или в порядке убывания в противном случае</a:t>
            </a:r>
            <a:r>
              <a:rPr lang="ru-RU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ru-RU" altLang="ru-RU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</a:t>
            </a:r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en-US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 данному натуральному числу </a:t>
            </a:r>
            <a:r>
              <a:rPr lang="ru-RU" alt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вычислите сумму 1!+2!+3!+⋯+n!. </a:t>
            </a:r>
            <a:r>
              <a:rPr lang="ru-RU" altLang="ru-RU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Пользоваться 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математической библиотекой </a:t>
            </a:r>
            <a:r>
              <a:rPr lang="ru-RU" altLang="ru-RU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math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запрещено. </a:t>
            </a:r>
          </a:p>
          <a:p>
            <a:endParaRPr lang="en-US" altLang="ru-RU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alt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</a:t>
            </a:r>
            <a:r>
              <a:rPr lang="ru-RU" alt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lang="ru-RU" altLang="ru-RU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Дана строка. Проверьте, является ли она </a:t>
            </a:r>
            <a:r>
              <a:rPr lang="ru-RU" alt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палиндромом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(читается одинаково в обоих направлениях). </a:t>
            </a:r>
            <a:r>
              <a:rPr lang="ru-RU" alt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Запрещено использовать циклы явно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ru-RU" altLang="ru-RU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или </a:t>
            </a:r>
            <a:r>
              <a:rPr lang="ru-RU" altLang="ru-RU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while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); используйте механизм </a:t>
            </a:r>
            <a:r>
              <a:rPr lang="ru-RU" alt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срезов (</a:t>
            </a:r>
            <a:r>
              <a:rPr lang="ru-RU" altLang="ru-RU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slicing</a:t>
            </a:r>
            <a:r>
              <a:rPr lang="ru-RU" alt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1103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Введение в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78331" y="1528177"/>
            <a:ext cx="11033298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4</a:t>
            </a:r>
            <a:endParaRPr lang="ru-RU" altLang="ru-RU" sz="20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Даны два списка с одинаковым количеством элементов: </a:t>
            </a:r>
            <a:r>
              <a:rPr lang="ru-RU" altLang="ru-RU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names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(имена) и </a:t>
            </a:r>
            <a:r>
              <a:rPr lang="ru-RU" altLang="ru-RU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scores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(баллы). С помощью </a:t>
            </a:r>
            <a:r>
              <a:rPr lang="ru-RU" alt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функции </a:t>
            </a:r>
            <a:r>
              <a:rPr lang="ru-RU" altLang="ru-RU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zip</a:t>
            </a:r>
            <a:r>
              <a:rPr lang="ru-RU" alt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выведите все имена, чьи баллы </a:t>
            </a:r>
            <a:r>
              <a:rPr lang="ru-RU" alt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превышают 90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0"/>
            <a:r>
              <a:rPr lang="ru-RU" altLang="ru-RU" i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Пример: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altLang="ru-RU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names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["</a:t>
            </a:r>
            <a:r>
              <a:rPr lang="ru-RU" altLang="ru-RU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Alice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", "</a:t>
            </a:r>
            <a:r>
              <a:rPr lang="ru-RU" altLang="ru-RU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Bob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", "</a:t>
            </a:r>
            <a:r>
              <a:rPr lang="ru-RU" altLang="ru-RU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Charlie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"] </a:t>
            </a:r>
            <a:r>
              <a:rPr lang="ru-RU" altLang="ru-RU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scores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[95, 88, 92] </a:t>
            </a:r>
            <a:r>
              <a:rPr lang="ru-RU" altLang="ru-RU" i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Вывод: </a:t>
            </a:r>
            <a:r>
              <a:rPr lang="ru-RU" altLang="ru-RU" i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Alice</a:t>
            </a:r>
            <a:r>
              <a:rPr lang="ru-RU" altLang="ru-RU" i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(95), </a:t>
            </a:r>
            <a:r>
              <a:rPr lang="ru-RU" altLang="ru-RU" i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Charlie</a:t>
            </a:r>
            <a:r>
              <a:rPr lang="ru-RU" altLang="ru-RU" i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(92).</a:t>
            </a:r>
            <a:endParaRPr lang="ru-RU" altLang="ru-RU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altLang="ru-RU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alt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</a:t>
            </a:r>
            <a:r>
              <a:rPr lang="ru-RU" alt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ru-RU" altLang="ru-RU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Выведите </a:t>
            </a:r>
            <a:r>
              <a:rPr 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чисел последовательности Фибоначчи. Определение: ϕ0​=0, ϕ1​=1, </a:t>
            </a:r>
            <a:r>
              <a:rPr lang="ru-RU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ϕn</a:t>
            </a:r>
            <a:r>
              <a:rPr 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​=ϕn−1​+ϕn−2​</a:t>
            </a:r>
            <a:r>
              <a:rPr lang="ru-RU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ru-RU" altLang="ru-RU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alt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</a:t>
            </a:r>
            <a:r>
              <a:rPr lang="ru-RU" alt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ru-RU" altLang="ru-RU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Напишите программу, которая принимает имя (строка) и оценку (число с плавающей точкой) студента. Используя </a:t>
            </a:r>
            <a:r>
              <a:rPr 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f-строки</a:t>
            </a:r>
            <a:r>
              <a:rPr 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выведите результат в формате: "Студент {Имя} получил </a:t>
            </a:r>
            <a:r>
              <a:rPr 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{Оценка}</a:t>
            </a:r>
            <a:r>
              <a:rPr 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балла." При этом:</a:t>
            </a:r>
          </a:p>
          <a:p>
            <a:r>
              <a:rPr 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Если оценка является целым числом (например, 5.0), выведите её как целое (т.е. 5).</a:t>
            </a:r>
          </a:p>
          <a:p>
            <a:r>
              <a:rPr 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Если оценка является дробным числом (например, 4.333), выведите её с </a:t>
            </a:r>
            <a:r>
              <a:rPr 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двумя знаками после запятой</a:t>
            </a:r>
            <a:r>
              <a:rPr 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(т.е. 4.33).</a:t>
            </a:r>
          </a:p>
        </p:txBody>
      </p:sp>
    </p:spTree>
    <p:extLst>
      <p:ext uri="{BB962C8B-B14F-4D97-AF65-F5344CB8AC3E}">
        <p14:creationId xmlns:p14="http://schemas.microsoft.com/office/powerpoint/2010/main" val="390748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36377" y="1386165"/>
            <a:ext cx="11407948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altLang="ru-RU" sz="20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</a:t>
            </a:r>
            <a:r>
              <a:rPr lang="ru-RU" alt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  <a:endParaRPr lang="ru-RU" altLang="ru-RU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Даны два целых числа </a:t>
            </a:r>
            <a:r>
              <a:rPr lang="ru-RU" alt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и </a:t>
            </a:r>
            <a:r>
              <a:rPr lang="ru-RU" alt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где A&gt;B. Выведите все нечётные числа от A до B </a:t>
            </a:r>
            <a:r>
              <a:rPr lang="ru-RU" alt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включительно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в порядке убывания. </a:t>
            </a:r>
            <a:r>
              <a:rPr lang="ru-RU" alt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Запрещено использовать инструкцию </a:t>
            </a:r>
            <a:r>
              <a:rPr lang="ru-RU" altLang="ru-RU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endParaRPr lang="ru-RU" sz="20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8</a:t>
            </a:r>
            <a:endParaRPr lang="en-US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Выведите полную таблицу умножения для чисел от 1 до 9.</a:t>
            </a:r>
            <a:endParaRPr lang="en-US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altLang="ru-RU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alt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9</a:t>
            </a:r>
            <a:endParaRPr lang="ru-RU" altLang="ru-RU" sz="20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ru-RU" altLang="ru-RU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Дано 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целое число </a:t>
            </a:r>
            <a:r>
              <a:rPr lang="ru-RU" alt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Подсчитайте количество чётных и нечётных цифр в этом числе и выведите оба результата. </a:t>
            </a:r>
            <a:r>
              <a:rPr lang="ru-RU" alt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Подсказка: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Преобразуйте число в строку, чтобы перебрать его цифры в цикле </a:t>
            </a:r>
            <a:r>
              <a:rPr lang="ru-RU" altLang="ru-RU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</a:t>
            </a:r>
            <a:r>
              <a:rPr lang="ru-RU" altLang="ru-RU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altLang="ru-RU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endParaRPr lang="en-US" altLang="ru-RU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ru-RU" altLang="ru-RU" sz="20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10</a:t>
            </a:r>
          </a:p>
          <a:p>
            <a:pPr lvl="0"/>
            <a:r>
              <a:rPr lang="ru-RU" altLang="ru-RU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Дано 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натуральное число </a:t>
            </a:r>
            <a:r>
              <a:rPr lang="ru-RU" altLang="ru-RU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Выведите числовую "пирамиду" высотой N, где в каждой строке i (от 1 до N) выводится число i ровно i раз.</a:t>
            </a:r>
          </a:p>
          <a:p>
            <a:pPr lvl="0"/>
            <a:r>
              <a:rPr lang="ru-RU" altLang="ru-RU" i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Пример для N=4:</a:t>
            </a:r>
            <a:endParaRPr lang="ru-RU" altLang="ru-RU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ru-RU" altLang="ru-RU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1 22 333 4444</a:t>
            </a:r>
          </a:p>
          <a:p>
            <a:pPr lvl="0"/>
            <a:endParaRPr lang="ru-RU" altLang="ru-RU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14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Для замены титула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Газпром ВНИИГАЗ_Основной титул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Основной титул" id="{C397697F-F5E1-4298-A648-3DC45A8263DA}" vid="{9BE9E90D-8CDA-425F-BD50-9BB6D7E31679}"/>
    </a:ext>
  </a:extLst>
</a:theme>
</file>

<file path=ppt/theme/theme3.xml><?xml version="1.0" encoding="utf-8"?>
<a:theme xmlns:a="http://schemas.openxmlformats.org/drawingml/2006/main" name="Газпром ВНИИГАЗ_Шмуцтитулы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Шмуцтитулы" id="{5F303918-08FC-4850-AA74-3F40398BD930}" vid="{354D9BAA-3665-4909-BAE5-D51A27A7D6DF}"/>
    </a:ext>
  </a:extLst>
</a:theme>
</file>

<file path=ppt/theme/theme4.xml><?xml version="1.0" encoding="utf-8"?>
<a:theme xmlns:a="http://schemas.openxmlformats.org/drawingml/2006/main" name="Газпром ВНИИГАЗ_Типовые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Газпром ВНИИГАЗ_Типовые" id="{32D3D2F1-3E8A-4560-A7AD-937C36AE1383}" vid="{2DE00677-BDF2-4C88-86FA-F05D27BA9E75}"/>
    </a:ext>
  </a:extLst>
</a:theme>
</file>

<file path=ppt/theme/theme5.xml><?xml version="1.0" encoding="utf-8"?>
<a:theme xmlns:a="http://schemas.openxmlformats.org/drawingml/2006/main" name="Газпром ВНИИГАЗ_Спасибо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Спасибо" id="{BA32FC82-268B-4C6A-B9AE-63B85559129D}" vid="{9F1884DA-6748-46E7-BE0B-48E86C89EB8C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21702</TotalTime>
  <Words>422</Words>
  <Application>Microsoft Office PowerPoint</Application>
  <PresentationFormat>Широкоэкранный</PresentationFormat>
  <Paragraphs>44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5</vt:i4>
      </vt:variant>
    </vt:vector>
  </HeadingPairs>
  <TitlesOfParts>
    <vt:vector size="14" baseType="lpstr">
      <vt:lpstr>Arial</vt:lpstr>
      <vt:lpstr>Arial Narrow</vt:lpstr>
      <vt:lpstr>Calibri</vt:lpstr>
      <vt:lpstr>Segoe UI</vt:lpstr>
      <vt:lpstr>Для замены титула</vt:lpstr>
      <vt:lpstr>Газпром ВНИИГАЗ_Основной титул</vt:lpstr>
      <vt:lpstr>Газпром ВНИИГАЗ_Шмуцтитулы</vt:lpstr>
      <vt:lpstr>Газпром ВНИИГАЗ_Типовые</vt:lpstr>
      <vt:lpstr>Газпром ВНИИГАЗ_Спасибо</vt:lpstr>
      <vt:lpstr>Презентация PowerPoint</vt:lpstr>
      <vt:lpstr>Презентация PowerPoint</vt:lpstr>
      <vt:lpstr>Задачи</vt:lpstr>
      <vt:lpstr>Задачи</vt:lpstr>
      <vt:lpstr>Задачи</vt:lpstr>
    </vt:vector>
  </TitlesOfParts>
  <Company>OOO Gazprom VNIIGAZ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K_Remishevskaya</dc:creator>
  <cp:lastModifiedBy>cc</cp:lastModifiedBy>
  <cp:revision>1171</cp:revision>
  <cp:lastPrinted>2019-09-16T14:00:21Z</cp:lastPrinted>
  <dcterms:created xsi:type="dcterms:W3CDTF">2019-09-13T09:31:10Z</dcterms:created>
  <dcterms:modified xsi:type="dcterms:W3CDTF">2025-10-08T08:51:47Z</dcterms:modified>
</cp:coreProperties>
</file>