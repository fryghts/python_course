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2" r:id="rId1"/>
    <p:sldMasterId id="2147483864" r:id="rId2"/>
    <p:sldMasterId id="2147483866" r:id="rId3"/>
    <p:sldMasterId id="2147483869" r:id="rId4"/>
    <p:sldMasterId id="2147483872" r:id="rId5"/>
  </p:sldMasterIdLst>
  <p:notesMasterIdLst>
    <p:notesMasterId r:id="rId14"/>
  </p:notesMasterIdLst>
  <p:handoutMasterIdLst>
    <p:handoutMasterId r:id="rId15"/>
  </p:handoutMasterIdLst>
  <p:sldIdLst>
    <p:sldId id="300" r:id="rId6"/>
    <p:sldId id="298" r:id="rId7"/>
    <p:sldId id="309" r:id="rId8"/>
    <p:sldId id="310" r:id="rId9"/>
    <p:sldId id="311" r:id="rId10"/>
    <p:sldId id="314" r:id="rId11"/>
    <p:sldId id="313" r:id="rId12"/>
    <p:sldId id="312" r:id="rId13"/>
  </p:sldIdLst>
  <p:sldSz cx="12192000" cy="6858000"/>
  <p:notesSz cx="6889750" cy="10018713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7C2"/>
    <a:srgbClr val="CBD7E9"/>
    <a:srgbClr val="000000"/>
    <a:srgbClr val="4A596A"/>
    <a:srgbClr val="0079C2"/>
    <a:srgbClr val="8A9BAE"/>
    <a:srgbClr val="0051A3"/>
    <a:srgbClr val="004181"/>
    <a:srgbClr val="43B7F7"/>
    <a:srgbClr val="929A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Стиль из темы 2 - акцент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35" autoAdjust="0"/>
    <p:restoredTop sz="96318" autoAdjust="0"/>
  </p:normalViewPr>
  <p:slideViewPr>
    <p:cSldViewPr snapToGrid="0" showGuides="1">
      <p:cViewPr varScale="1">
        <p:scale>
          <a:sx n="85" d="100"/>
          <a:sy n="85" d="100"/>
        </p:scale>
        <p:origin x="619" y="5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-52188"/>
    </p:cViewPr>
  </p:sorterViewPr>
  <p:notesViewPr>
    <p:cSldViewPr snapToGrid="0" showGuides="1">
      <p:cViewPr varScale="1">
        <p:scale>
          <a:sx n="77" d="100"/>
          <a:sy n="77" d="100"/>
        </p:scale>
        <p:origin x="2388" y="114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F1D0005-DD6C-4AA6-9543-B01BDE559B4D}" type="datetimeFigureOut">
              <a:rPr lang="ru-RU"/>
              <a:pPr>
                <a:defRPr/>
              </a:pPr>
              <a:t>14.10.2025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517063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902075" y="9517063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17D8B954-ADF2-4712-AA5A-29339410173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94710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C57AF103-4D3C-4EA1-B312-535F71B34CD3}" type="datetimeFigureOut">
              <a:rPr lang="ru-RU"/>
              <a:pPr>
                <a:defRPr/>
              </a:pPr>
              <a:t>14.10.2025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10275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8975" y="4821238"/>
            <a:ext cx="5511800" cy="3944937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515475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902075" y="9515475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C90AB973-3156-4A16-9C53-876BCC91BFC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4941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0AB973-3156-4A16-9C53-876BCC91BFC0}" type="slidenum">
              <a:rPr lang="ru-RU" smtClean="0"/>
              <a:pPr>
                <a:defRPr/>
              </a:pPr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1733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замены титу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7979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/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35650" y="-3175"/>
            <a:ext cx="6356350" cy="3648755"/>
          </a:xfrm>
          <a:prstGeom prst="rect">
            <a:avLst/>
          </a:prstGeom>
          <a:effectLst/>
        </p:spPr>
      </p:pic>
      <p:sp>
        <p:nvSpPr>
          <p:cNvPr id="20" name="Прямоугольник с двумя усеченными противолежащими углами 19"/>
          <p:cNvSpPr/>
          <p:nvPr/>
        </p:nvSpPr>
        <p:spPr>
          <a:xfrm>
            <a:off x="-1" y="0"/>
            <a:ext cx="10056813" cy="2336800"/>
          </a:xfrm>
          <a:prstGeom prst="snip2DiagRect">
            <a:avLst>
              <a:gd name="adj1" fmla="val 0"/>
              <a:gd name="adj2" fmla="val 0"/>
            </a:avLst>
          </a:prstGeom>
          <a:gradFill>
            <a:gsLst>
              <a:gs pos="0">
                <a:schemeClr val="bg1"/>
              </a:gs>
              <a:gs pos="80000">
                <a:srgbClr val="FFFFFF">
                  <a:alpha val="90000"/>
                </a:srgbClr>
              </a:gs>
              <a:gs pos="67000">
                <a:srgbClr val="FFFFFF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24" name="Группа 23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6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" name="Текст 14"/>
          <p:cNvSpPr>
            <a:spLocks noGrp="1"/>
          </p:cNvSpPr>
          <p:nvPr>
            <p:ph type="body" sz="quarter" idx="11" hasCustomPrompt="1"/>
          </p:nvPr>
        </p:nvSpPr>
        <p:spPr>
          <a:xfrm>
            <a:off x="2243139" y="6340515"/>
            <a:ext cx="918209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1219140" rtl="0" eaLnBrk="1" latinLnBrk="0" hangingPunct="1">
              <a:spcBef>
                <a:spcPct val="20000"/>
              </a:spcBef>
              <a:buFont typeface="Arial" pitchFamily="34" charset="0"/>
              <a:buNone/>
              <a:defRPr lang="ru-RU" sz="1800" b="0" kern="1200" spc="60" baseline="0" dirty="0" smtClean="0">
                <a:solidFill>
                  <a:srgbClr val="0079C2"/>
                </a:solidFill>
                <a:latin typeface="Arial Narrow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МЕРОПРИЯТИЯ</a:t>
            </a:r>
          </a:p>
        </p:txBody>
      </p:sp>
      <p:sp>
        <p:nvSpPr>
          <p:cNvPr id="13" name="Текст 2"/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4724400"/>
            <a:ext cx="9182100" cy="282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indent="0">
              <a:lnSpc>
                <a:spcPts val="2200"/>
              </a:lnSpc>
              <a:spcBef>
                <a:spcPts val="0"/>
              </a:spcBef>
              <a:defRPr sz="2000"/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2243138" y="5009704"/>
            <a:ext cx="9182100" cy="329184"/>
          </a:xfrm>
          <a:prstGeom prst="rect">
            <a:avLst/>
          </a:prstGeom>
        </p:spPr>
        <p:txBody>
          <a:bodyPr wrap="square" lIns="0" tIns="72000" rIns="0" bIns="0">
            <a:spAutoFit/>
          </a:bodyPr>
          <a:lstStyle>
            <a:lvl1pPr indent="0">
              <a:lnSpc>
                <a:spcPts val="2000"/>
              </a:lnSpc>
              <a:spcBef>
                <a:spcPts val="0"/>
              </a:spcBef>
              <a:defRPr sz="1800" b="0"/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Полилиния 24"/>
          <p:cNvSpPr/>
          <p:nvPr/>
        </p:nvSpPr>
        <p:spPr>
          <a:xfrm>
            <a:off x="0" y="1268414"/>
            <a:ext cx="10056814" cy="3132136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4" hasCustomPrompt="1"/>
          </p:nvPr>
        </p:nvSpPr>
        <p:spPr>
          <a:xfrm>
            <a:off x="2243139" y="1665289"/>
            <a:ext cx="7453312" cy="2342788"/>
          </a:xfrm>
          <a:prstGeom prst="rect">
            <a:avLst/>
          </a:prstGeom>
        </p:spPr>
        <p:txBody>
          <a:bodyPr lIns="0" tIns="0" rIns="0" bIns="72000" anchor="ctr" anchorCtr="0"/>
          <a:lstStyle>
            <a:lvl1pPr marL="0" marR="0" indent="0" algn="l" defTabSz="1217613" rtl="0" eaLnBrk="0" fontAlgn="base" latinLnBrk="0" hangingPunct="0">
              <a:lnSpc>
                <a:spcPts val="44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4000" b="1" kern="1200" spc="40" baseline="0" dirty="0" smtClean="0">
                <a:solidFill>
                  <a:srgbClr val="0079C2"/>
                </a:solidFill>
                <a:latin typeface="Arial Narrow" pitchFamily="34" charset="0"/>
                <a:ea typeface="+mn-ea"/>
                <a:cs typeface="+mn-cs"/>
              </a:defRPr>
            </a:lvl1pPr>
          </a:lstStyle>
          <a:p>
            <a:pPr>
              <a:lnSpc>
                <a:spcPts val="4400"/>
              </a:lnSpc>
            </a:pPr>
            <a:r>
              <a:rPr lang="ru-RU" sz="4000" spc="40" baseline="0" dirty="0"/>
              <a:t>НАЗВАНИЕ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3107213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76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pos="6108">
          <p15:clr>
            <a:srgbClr val="FBAE40"/>
          </p15:clr>
        </p15:guide>
        <p15:guide id="7" pos="6335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Шмуцтиту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олилиния 15"/>
          <p:cNvSpPr/>
          <p:nvPr/>
        </p:nvSpPr>
        <p:spPr>
          <a:xfrm>
            <a:off x="0" y="1268413"/>
            <a:ext cx="10056814" cy="4537301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18" name="Текст 2"/>
          <p:cNvSpPr>
            <a:spLocks noGrp="1"/>
          </p:cNvSpPr>
          <p:nvPr>
            <p:ph type="body" sz="quarter" idx="10" hasCustomPrompt="1"/>
          </p:nvPr>
        </p:nvSpPr>
        <p:spPr>
          <a:xfrm>
            <a:off x="2243138" y="1665287"/>
            <a:ext cx="7453312" cy="3635375"/>
          </a:xfrm>
          <a:prstGeom prst="rect">
            <a:avLst/>
          </a:prstGeom>
        </p:spPr>
        <p:txBody>
          <a:bodyPr lIns="0" tIns="0" rIns="0" bIns="72000" anchor="ctr" anchorCtr="0"/>
          <a:lstStyle>
            <a:lvl1pPr>
              <a:lnSpc>
                <a:spcPts val="4400"/>
              </a:lnSpc>
              <a:spcBef>
                <a:spcPts val="0"/>
              </a:spcBef>
              <a:defRPr sz="4000" b="0" spc="60" baseline="0"/>
            </a:lvl1pPr>
          </a:lstStyle>
          <a:p>
            <a:pPr lvl="0"/>
            <a:r>
              <a:rPr lang="ru-RU" dirty="0"/>
              <a:t>НАЗВАНИЕ ШМУЦТИТУЛА</a:t>
            </a:r>
          </a:p>
        </p:txBody>
      </p:sp>
      <p:grpSp>
        <p:nvGrpSpPr>
          <p:cNvPr id="19" name="Группа 18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0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12566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57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3339">
          <p15:clr>
            <a:srgbClr val="FBAE40"/>
          </p15:clr>
        </p15:guide>
        <p15:guide id="6" pos="6108">
          <p15:clr>
            <a:srgbClr val="FBAE40"/>
          </p15:clr>
        </p15:guide>
        <p15:guide id="7" pos="6335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Шмуцтитул с должност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Группа 18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0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Текст 2"/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4724400"/>
            <a:ext cx="9182100" cy="282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indent="0">
              <a:lnSpc>
                <a:spcPts val="2200"/>
              </a:lnSpc>
              <a:spcBef>
                <a:spcPts val="0"/>
              </a:spcBef>
              <a:defRPr sz="2000"/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2243138" y="5009704"/>
            <a:ext cx="9182100" cy="329184"/>
          </a:xfrm>
          <a:prstGeom prst="rect">
            <a:avLst/>
          </a:prstGeom>
        </p:spPr>
        <p:txBody>
          <a:bodyPr wrap="square" lIns="0" tIns="72000" rIns="0" bIns="0">
            <a:spAutoFit/>
          </a:bodyPr>
          <a:lstStyle>
            <a:lvl1pPr indent="0">
              <a:lnSpc>
                <a:spcPts val="2000"/>
              </a:lnSpc>
              <a:spcBef>
                <a:spcPts val="0"/>
              </a:spcBef>
              <a:defRPr sz="1800" b="0"/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4" name="Полилиния 23"/>
          <p:cNvSpPr/>
          <p:nvPr/>
        </p:nvSpPr>
        <p:spPr>
          <a:xfrm>
            <a:off x="0" y="1268414"/>
            <a:ext cx="10056814" cy="3132136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26" name="Текст 2"/>
          <p:cNvSpPr>
            <a:spLocks noGrp="1"/>
          </p:cNvSpPr>
          <p:nvPr>
            <p:ph type="body" sz="quarter" idx="14" hasCustomPrompt="1"/>
          </p:nvPr>
        </p:nvSpPr>
        <p:spPr>
          <a:xfrm>
            <a:off x="2252662" y="1665287"/>
            <a:ext cx="7443788" cy="2339978"/>
          </a:xfrm>
          <a:prstGeom prst="rect">
            <a:avLst/>
          </a:prstGeom>
        </p:spPr>
        <p:txBody>
          <a:bodyPr lIns="0" tIns="0" rIns="0" bIns="72000" anchor="ctr" anchorCtr="0"/>
          <a:lstStyle>
            <a:lvl1pPr indent="0">
              <a:lnSpc>
                <a:spcPts val="4400"/>
              </a:lnSpc>
              <a:spcBef>
                <a:spcPts val="0"/>
              </a:spcBef>
              <a:defRPr sz="4000" b="0" spc="40" baseline="0"/>
            </a:lvl1pPr>
          </a:lstStyle>
          <a:p>
            <a:pPr lvl="0"/>
            <a:r>
              <a:rPr lang="ru-RU" dirty="0"/>
              <a:t>НАЗВАНИЕ ШМУЦТИТУЛА</a:t>
            </a:r>
          </a:p>
        </p:txBody>
      </p:sp>
    </p:spTree>
    <p:extLst>
      <p:ext uri="{BB962C8B-B14F-4D97-AF65-F5344CB8AC3E}">
        <p14:creationId xmlns:p14="http://schemas.microsoft.com/office/powerpoint/2010/main" val="3241463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57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3339">
          <p15:clr>
            <a:srgbClr val="FBAE40"/>
          </p15:clr>
        </p15:guide>
        <p15:guide id="6" pos="6108">
          <p15:clr>
            <a:srgbClr val="FBAE40"/>
          </p15:clr>
        </p15:guide>
        <p15:guide id="7" pos="6335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пов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0079C2"/>
                </a:solidFill>
              </a:defRPr>
            </a:lvl1pPr>
          </a:lstStyle>
          <a:p>
            <a:pPr>
              <a:defRPr/>
            </a:pPr>
            <a:r>
              <a:rPr lang="ru-RU" smtClean="0"/>
              <a:t>Введение в </a:t>
            </a:r>
            <a:r>
              <a:rPr lang="en-US" smtClean="0"/>
              <a:t>Python</a:t>
            </a:r>
            <a:endParaRPr lang="ru-RU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 bwMode="auto">
          <a:xfrm>
            <a:off x="2246928" y="152400"/>
            <a:ext cx="9681547" cy="833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  <a:endParaRPr lang="ru-RU" altLang="ru-RU" dirty="0"/>
          </a:p>
        </p:txBody>
      </p:sp>
      <p:sp>
        <p:nvSpPr>
          <p:cNvPr id="5" name="Line 15"/>
          <p:cNvSpPr>
            <a:spLocks noChangeShapeType="1"/>
          </p:cNvSpPr>
          <p:nvPr/>
        </p:nvSpPr>
        <p:spPr bwMode="auto">
          <a:xfrm rot="16200000">
            <a:off x="1567877" y="591822"/>
            <a:ext cx="926302" cy="0"/>
          </a:xfrm>
          <a:prstGeom prst="line">
            <a:avLst/>
          </a:prstGeom>
          <a:noFill/>
          <a:ln w="12700">
            <a:solidFill>
              <a:srgbClr val="0079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0264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Типов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0079C2"/>
                </a:solidFill>
              </a:defRPr>
            </a:lvl1pPr>
          </a:lstStyle>
          <a:p>
            <a:pPr>
              <a:defRPr/>
            </a:pPr>
            <a:r>
              <a:rPr lang="ru-RU" smtClean="0"/>
              <a:t>Введение в </a:t>
            </a:r>
            <a:r>
              <a:rPr lang="en-US" smtClean="0"/>
              <a:t>Python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1699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пасибо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Текст 2"/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4724400"/>
            <a:ext cx="9182100" cy="282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indent="0">
              <a:lnSpc>
                <a:spcPts val="2200"/>
              </a:lnSpc>
              <a:spcBef>
                <a:spcPts val="0"/>
              </a:spcBef>
              <a:defRPr sz="2000"/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2243138" y="5009704"/>
            <a:ext cx="9182100" cy="329184"/>
          </a:xfrm>
          <a:prstGeom prst="rect">
            <a:avLst/>
          </a:prstGeom>
        </p:spPr>
        <p:txBody>
          <a:bodyPr wrap="square" lIns="0" tIns="72000" rIns="0" bIns="0">
            <a:spAutoFit/>
          </a:bodyPr>
          <a:lstStyle>
            <a:lvl1pPr indent="0">
              <a:lnSpc>
                <a:spcPts val="2000"/>
              </a:lnSpc>
              <a:spcBef>
                <a:spcPts val="0"/>
              </a:spcBef>
              <a:defRPr sz="1800" b="0"/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Полилиния 24"/>
          <p:cNvSpPr/>
          <p:nvPr/>
        </p:nvSpPr>
        <p:spPr>
          <a:xfrm>
            <a:off x="0" y="1268414"/>
            <a:ext cx="10056814" cy="3132136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9" name="Группа 8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10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4" name="Текст 5"/>
          <p:cNvSpPr txBox="1">
            <a:spLocks/>
          </p:cNvSpPr>
          <p:nvPr/>
        </p:nvSpPr>
        <p:spPr>
          <a:xfrm>
            <a:off x="2243138" y="1665288"/>
            <a:ext cx="7453312" cy="2339977"/>
          </a:xfrm>
          <a:prstGeom prst="rect">
            <a:avLst/>
          </a:prstGeom>
        </p:spPr>
        <p:txBody>
          <a:bodyPr lIns="0" tIns="0" rIns="0" bIns="72000" anchor="ctr" anchorCtr="0">
            <a:noAutofit/>
          </a:bodyPr>
          <a:lstStyle>
            <a:lvl1pPr marL="0" marR="0" indent="0" algn="l" defTabSz="1217613" rtl="0" eaLnBrk="0" fontAlgn="base" latinLnBrk="0" hangingPunct="0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3400" b="1" kern="1200" spc="40" baseline="0" dirty="0" smtClean="0">
                <a:solidFill>
                  <a:srgbClr val="0079C2"/>
                </a:solidFill>
                <a:latin typeface="Arial Narrow" pitchFamily="34" charset="0"/>
                <a:ea typeface="+mn-ea"/>
                <a:cs typeface="+mn-cs"/>
              </a:defRPr>
            </a:lvl1pPr>
            <a:lvl2pPr indent="-3794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2pPr>
            <a:lvl3pPr indent="-3032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3pPr>
            <a:lvl4pPr indent="-3032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4pPr>
            <a:lvl5pPr indent="-3032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5pPr>
            <a:lvl6pPr marL="335263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0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341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400"/>
              </a:lnSpc>
            </a:pPr>
            <a:r>
              <a:rPr lang="ru-RU" sz="4000" spc="40" baseline="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82045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76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pos="6335">
          <p15:clr>
            <a:srgbClr val="FBAE40"/>
          </p15:clr>
        </p15:guide>
        <p15:guide id="7" pos="6108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8786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514">
          <p15:clr>
            <a:srgbClr val="F26B43"/>
          </p15:clr>
        </p15:guide>
        <p15:guide id="2" pos="166">
          <p15:clr>
            <a:srgbClr val="F26B43"/>
          </p15:clr>
        </p15:guide>
        <p15:guide id="3" pos="1277">
          <p15:clr>
            <a:srgbClr val="F26B43"/>
          </p15:clr>
        </p15:guide>
        <p15:guide id="4" pos="1413">
          <p15:clr>
            <a:srgbClr val="F26B43"/>
          </p15:clr>
        </p15:guide>
        <p15:guide id="5" orient="horz" pos="799">
          <p15:clr>
            <a:srgbClr val="F26B43"/>
          </p15:clr>
        </p15:guide>
        <p15:guide id="6" orient="horz" pos="96">
          <p15:clr>
            <a:srgbClr val="F26B43"/>
          </p15:clr>
        </p15:guide>
        <p15:guide id="7" orient="horz" pos="572">
          <p15:clr>
            <a:srgbClr val="F26B43"/>
          </p15:clr>
        </p15:guide>
        <p15:guide id="8" orient="horz" pos="663">
          <p15:clr>
            <a:srgbClr val="F26B43"/>
          </p15:clr>
        </p15:guide>
        <p15:guide id="9" orient="horz" pos="3974">
          <p15:clr>
            <a:srgbClr val="F26B43"/>
          </p15:clr>
        </p15:guide>
        <p15:guide id="10" orient="horz" pos="4201">
          <p15:clr>
            <a:srgbClr val="F26B43"/>
          </p15:clr>
        </p15:guide>
        <p15:guide id="11" orient="horz" pos="1049">
          <p15:clr>
            <a:srgbClr val="F26B43"/>
          </p15:clr>
        </p15:guide>
        <p15:guide id="12" orient="horz" pos="2296">
          <p15:clr>
            <a:srgbClr val="F26B43"/>
          </p15:clr>
        </p15:guide>
        <p15:guide id="13" orient="horz" pos="2772">
          <p15:clr>
            <a:srgbClr val="F26B43"/>
          </p15:clr>
        </p15:guide>
        <p15:guide id="14" orient="horz" pos="2976">
          <p15:clr>
            <a:srgbClr val="F26B43"/>
          </p15:clr>
        </p15:guide>
        <p15:guide id="15" pos="6108">
          <p15:clr>
            <a:srgbClr val="F26B43"/>
          </p15:clr>
        </p15:guide>
        <p15:guide id="16" pos="6335">
          <p15:clr>
            <a:srgbClr val="F26B43"/>
          </p15:clr>
        </p15:guide>
        <p15:guide id="17" pos="7197">
          <p15:clr>
            <a:srgbClr val="F26B43"/>
          </p15:clr>
        </p15:guide>
        <p15:guide id="18" orient="horz" pos="2523">
          <p15:clr>
            <a:srgbClr val="F26B43"/>
          </p15:clr>
        </p15:guide>
        <p15:guide id="19" orient="horz" pos="3498">
          <p15:clr>
            <a:srgbClr val="F26B43"/>
          </p15:clr>
        </p15:guide>
        <p15:guide id="20" orient="horz" pos="3657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568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</p:sldLayoutIdLst>
  <p:hf sldNum="0" hdr="0" dt="0"/>
  <p:txStyles>
    <p:titleStyle>
      <a:lvl1pPr algn="ctr" defTabSz="1217613" rtl="0" eaLnBrk="1" fontAlgn="base" hangingPunct="1">
        <a:spcBef>
          <a:spcPct val="0"/>
        </a:spcBef>
        <a:spcAft>
          <a:spcPct val="0"/>
        </a:spcAft>
        <a:defRPr lang="ru-RU" sz="2500" kern="1200" dirty="0">
          <a:solidFill>
            <a:schemeClr val="bg1"/>
          </a:solidFill>
          <a:latin typeface="Arial Narrow" pitchFamily="34" charset="0"/>
          <a:ea typeface="+mj-ea"/>
          <a:cs typeface="+mj-cs"/>
        </a:defRPr>
      </a:lvl1pPr>
      <a:lvl2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2pPr>
      <a:lvl3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3pPr>
      <a:lvl4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4pPr>
      <a:lvl5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5pPr>
      <a:lvl6pPr marL="4572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6pPr>
      <a:lvl7pPr marL="9144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7pPr>
      <a:lvl8pPr marL="13716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8pPr>
      <a:lvl9pPr marL="18288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defRPr lang="ru-RU" sz="3600" b="1" kern="1200" dirty="0">
          <a:solidFill>
            <a:srgbClr val="0079C2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166">
          <p15:clr>
            <a:srgbClr val="F26B43"/>
          </p15:clr>
        </p15:guide>
        <p15:guide id="3" pos="1413">
          <p15:clr>
            <a:srgbClr val="F26B43"/>
          </p15:clr>
        </p15:guide>
        <p15:guide id="4" orient="horz" pos="96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pos="7514">
          <p15:clr>
            <a:srgbClr val="F26B43"/>
          </p15:clr>
        </p15:guide>
        <p15:guide id="7" pos="1277">
          <p15:clr>
            <a:srgbClr val="F26B43"/>
          </p15:clr>
        </p15:guide>
        <p15:guide id="8" orient="horz" pos="3974">
          <p15:clr>
            <a:srgbClr val="F26B43"/>
          </p15:clr>
        </p15:guide>
        <p15:guide id="9" orient="horz" pos="420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6976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</p:sldLayoutIdLst>
  <p:hf sldNum="0" hdr="0" dt="0"/>
  <p:txStyles>
    <p:titleStyle>
      <a:lvl1pPr algn="ctr" defTabSz="1217613" rtl="0" eaLnBrk="1" fontAlgn="base" hangingPunct="1">
        <a:spcBef>
          <a:spcPct val="0"/>
        </a:spcBef>
        <a:spcAft>
          <a:spcPct val="0"/>
        </a:spcAft>
        <a:defRPr lang="ru-RU" sz="2500" kern="1200" dirty="0">
          <a:solidFill>
            <a:schemeClr val="bg1"/>
          </a:solidFill>
          <a:latin typeface="Arial Narrow" pitchFamily="34" charset="0"/>
          <a:ea typeface="+mj-ea"/>
          <a:cs typeface="+mj-cs"/>
        </a:defRPr>
      </a:lvl1pPr>
      <a:lvl2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2pPr>
      <a:lvl3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3pPr>
      <a:lvl4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4pPr>
      <a:lvl5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5pPr>
      <a:lvl6pPr marL="4572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6pPr>
      <a:lvl7pPr marL="9144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7pPr>
      <a:lvl8pPr marL="13716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8pPr>
      <a:lvl9pPr marL="18288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defRPr lang="ru-RU" sz="3600" b="1" kern="1200" dirty="0">
          <a:solidFill>
            <a:srgbClr val="0079C2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166">
          <p15:clr>
            <a:srgbClr val="F26B43"/>
          </p15:clr>
        </p15:guide>
        <p15:guide id="3" pos="1413">
          <p15:clr>
            <a:srgbClr val="F26B43"/>
          </p15:clr>
        </p15:guide>
        <p15:guide id="4" orient="horz" pos="96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pos="7514">
          <p15:clr>
            <a:srgbClr val="F26B43"/>
          </p15:clr>
        </p15:guide>
        <p15:guide id="7" pos="1277">
          <p15:clr>
            <a:srgbClr val="F26B43"/>
          </p15:clr>
        </p15:guide>
        <p15:guide id="8" orient="horz" pos="3974">
          <p15:clr>
            <a:srgbClr val="F26B43"/>
          </p15:clr>
        </p15:guide>
        <p15:guide id="9" orient="horz" pos="420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Номер слайда 3"/>
          <p:cNvSpPr txBox="1">
            <a:spLocks/>
          </p:cNvSpPr>
          <p:nvPr/>
        </p:nvSpPr>
        <p:spPr>
          <a:xfrm>
            <a:off x="279400" y="6351587"/>
            <a:ext cx="1228725" cy="287338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4CA8AB40-D8E0-485A-87A4-1EECBD8ABE01}" type="slidenum">
              <a:rPr lang="ru-RU" sz="1867" b="1">
                <a:solidFill>
                  <a:srgbClr val="0079C2"/>
                </a:solidFill>
                <a:latin typeface="Arial Narrow" pitchFamily="34" charset="0"/>
              </a:rPr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1867" b="1" dirty="0">
              <a:solidFill>
                <a:srgbClr val="0079C2"/>
              </a:solidFill>
              <a:latin typeface="Arial Narrow" pitchFamily="34" charset="0"/>
            </a:endParaRPr>
          </a:p>
        </p:txBody>
      </p:sp>
      <p:sp>
        <p:nvSpPr>
          <p:cNvPr id="3083" name="Line 7"/>
          <p:cNvSpPr>
            <a:spLocks noChangeShapeType="1"/>
          </p:cNvSpPr>
          <p:nvPr/>
        </p:nvSpPr>
        <p:spPr bwMode="auto">
          <a:xfrm>
            <a:off x="2025650" y="6307301"/>
            <a:ext cx="0" cy="371149"/>
          </a:xfrm>
          <a:prstGeom prst="line">
            <a:avLst/>
          </a:prstGeom>
          <a:noFill/>
          <a:ln w="12700">
            <a:solidFill>
              <a:srgbClr val="0079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ru-RU"/>
          </a:p>
        </p:txBody>
      </p:sp>
      <p:sp>
        <p:nvSpPr>
          <p:cNvPr id="40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246928" y="6318250"/>
            <a:ext cx="9681547" cy="354013"/>
          </a:xfrm>
          <a:prstGeom prst="rect">
            <a:avLst/>
          </a:prstGeom>
        </p:spPr>
        <p:txBody>
          <a:bodyPr lIns="0" anchor="ctr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0079C2"/>
                </a:solidFill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mtClean="0"/>
              <a:t>Введение в </a:t>
            </a:r>
            <a:r>
              <a:rPr lang="en-US" altLang="ru-RU" smtClean="0"/>
              <a:t>Python</a:t>
            </a:r>
            <a:endParaRPr lang="ru-RU" altLang="ru-RU" dirty="0"/>
          </a:p>
        </p:txBody>
      </p:sp>
      <p:grpSp>
        <p:nvGrpSpPr>
          <p:cNvPr id="22" name="Группа 21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3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9980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</p:sldLayoutIdLst>
  <p:hf sldNum="0" hdr="0" dt="0"/>
  <p:txStyles>
    <p:titleStyle>
      <a:lvl1pPr algn="l" defTabSz="1217613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lang="ru-RU" sz="2600" b="1" kern="1200" dirty="0">
          <a:solidFill>
            <a:srgbClr val="0079C2"/>
          </a:solidFill>
          <a:latin typeface="Arial Narrow" pitchFamily="34" charset="0"/>
          <a:ea typeface="+mj-ea"/>
          <a:cs typeface="+mj-cs"/>
        </a:defRPr>
      </a:lvl1pPr>
      <a:lvl2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2pPr>
      <a:lvl3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3pPr>
      <a:lvl4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4pPr>
      <a:lvl5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5pPr>
      <a:lvl6pPr marL="4572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6pPr>
      <a:lvl7pPr marL="9144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7pPr>
      <a:lvl8pPr marL="13716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8pPr>
      <a:lvl9pPr marL="18288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2000" kern="1200" dirty="0">
          <a:solidFill>
            <a:srgbClr val="000000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3974">
          <p15:clr>
            <a:srgbClr val="F26B43"/>
          </p15:clr>
        </p15:guide>
        <p15:guide id="2" orient="horz" pos="3793">
          <p15:clr>
            <a:srgbClr val="F26B43"/>
          </p15:clr>
        </p15:guide>
        <p15:guide id="3" orient="horz" pos="845">
          <p15:clr>
            <a:srgbClr val="F26B43"/>
          </p15:clr>
        </p15:guide>
        <p15:guide id="4" orient="horz" pos="663">
          <p15:clr>
            <a:srgbClr val="F26B43"/>
          </p15:clr>
        </p15:guide>
        <p15:guide id="5" pos="1277">
          <p15:clr>
            <a:srgbClr val="F26B43"/>
          </p15:clr>
        </p15:guide>
        <p15:guide id="6" orient="horz" pos="572">
          <p15:clr>
            <a:srgbClr val="F26B43"/>
          </p15:clr>
        </p15:guide>
        <p15:guide id="7" pos="1413">
          <p15:clr>
            <a:srgbClr val="F26B43"/>
          </p15:clr>
        </p15:guide>
        <p15:guide id="8" pos="7514">
          <p15:clr>
            <a:srgbClr val="F26B43"/>
          </p15:clr>
        </p15:guide>
        <p15:guide id="9" pos="166">
          <p15:clr>
            <a:srgbClr val="F26B43"/>
          </p15:clr>
        </p15:guide>
        <p15:guide id="10" orient="horz" pos="4201">
          <p15:clr>
            <a:srgbClr val="F26B43"/>
          </p15:clr>
        </p15:guide>
        <p15:guide id="11" orient="horz" pos="96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1882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</p:sldLayoutIdLst>
  <p:hf sldNum="0" hdr="0" dt="0"/>
  <p:txStyles>
    <p:titleStyle>
      <a:lvl1pPr algn="ctr" defTabSz="1217613" rtl="0" eaLnBrk="1" fontAlgn="base" hangingPunct="1">
        <a:spcBef>
          <a:spcPct val="0"/>
        </a:spcBef>
        <a:spcAft>
          <a:spcPct val="0"/>
        </a:spcAft>
        <a:defRPr lang="ru-RU" sz="2500" kern="1200" dirty="0">
          <a:solidFill>
            <a:schemeClr val="bg1"/>
          </a:solidFill>
          <a:latin typeface="Arial Narrow" pitchFamily="34" charset="0"/>
          <a:ea typeface="+mj-ea"/>
          <a:cs typeface="+mj-cs"/>
        </a:defRPr>
      </a:lvl1pPr>
      <a:lvl2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2pPr>
      <a:lvl3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3pPr>
      <a:lvl4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4pPr>
      <a:lvl5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5pPr>
      <a:lvl6pPr marL="4572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6pPr>
      <a:lvl7pPr marL="9144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7pPr>
      <a:lvl8pPr marL="13716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8pPr>
      <a:lvl9pPr marL="18288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defRPr lang="ru-RU" sz="3600" b="1" kern="1200" dirty="0">
          <a:solidFill>
            <a:srgbClr val="0079C2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166">
          <p15:clr>
            <a:srgbClr val="F26B43"/>
          </p15:clr>
        </p15:guide>
        <p15:guide id="3" pos="1413">
          <p15:clr>
            <a:srgbClr val="F26B43"/>
          </p15:clr>
        </p15:guide>
        <p15:guide id="4" orient="horz" pos="96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pos="7514">
          <p15:clr>
            <a:srgbClr val="F26B43"/>
          </p15:clr>
        </p15:guide>
        <p15:guide id="7" pos="1277">
          <p15:clr>
            <a:srgbClr val="F26B43"/>
          </p15:clr>
        </p15:guide>
        <p15:guide id="8" orient="horz" pos="3974">
          <p15:clr>
            <a:srgbClr val="F26B43"/>
          </p15:clr>
        </p15:guide>
        <p15:guide id="9" orient="horz" pos="420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quarter" idx="14"/>
          </p:nvPr>
        </p:nvSpPr>
        <p:spPr>
          <a:xfrm>
            <a:off x="2274696" y="2127996"/>
            <a:ext cx="7443788" cy="2339978"/>
          </a:xfrm>
        </p:spPr>
        <p:txBody>
          <a:bodyPr/>
          <a:lstStyle/>
          <a:p>
            <a:pPr algn="ctr">
              <a:lnSpc>
                <a:spcPts val="6000"/>
              </a:lnSpc>
            </a:pPr>
            <a:r>
              <a:rPr lang="ru-RU" sz="4400" b="1" dirty="0"/>
              <a:t>Технология программирования и автоматизация обработки данных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356965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Введение в </a:t>
            </a:r>
            <a:r>
              <a:rPr lang="en-US" smtClean="0"/>
              <a:t>Python</a:t>
            </a:r>
            <a:endParaRPr lang="ru-RU" dirty="0"/>
          </a:p>
        </p:txBody>
      </p:sp>
      <p:sp>
        <p:nvSpPr>
          <p:cNvPr id="4" name="Google Shape;97;p15"/>
          <p:cNvSpPr txBox="1">
            <a:spLocks/>
          </p:cNvSpPr>
          <p:nvPr/>
        </p:nvSpPr>
        <p:spPr>
          <a:xfrm>
            <a:off x="2390148" y="2252205"/>
            <a:ext cx="10653824" cy="170450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1217613" rtl="0" eaLnBrk="1" fontAlgn="base" hangingPunct="1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defRPr lang="ru-RU" sz="2600" b="1" kern="1200" dirty="0">
                <a:solidFill>
                  <a:srgbClr val="0079C2"/>
                </a:solidFill>
                <a:latin typeface="Arial Narrow" pitchFamily="34" charset="0"/>
                <a:ea typeface="+mj-ea"/>
                <a:cs typeface="+mj-cs"/>
              </a:defRPr>
            </a:lvl1pPr>
            <a:lvl2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2pPr>
            <a:lvl3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3pPr>
            <a:lvl4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4pPr>
            <a:lvl5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5pPr>
            <a:lvl6pPr marL="4572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6pPr>
            <a:lvl7pPr marL="9144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7pPr>
            <a:lvl8pPr marL="13716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8pPr>
            <a:lvl9pPr marL="18288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9pPr>
          </a:lstStyle>
          <a:p>
            <a:pPr>
              <a:lnSpc>
                <a:spcPts val="56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4800" dirty="0" smtClean="0"/>
              <a:t>Массивы, </a:t>
            </a:r>
          </a:p>
          <a:p>
            <a:pPr>
              <a:lnSpc>
                <a:spcPts val="56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4800" dirty="0" smtClean="0"/>
              <a:t>они же списки</a:t>
            </a:r>
            <a:endParaRPr lang="ru-RU" sz="48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165088" y="1576867"/>
            <a:ext cx="1531188" cy="18620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1500" b="1" dirty="0" smtClean="0">
                <a:solidFill>
                  <a:schemeClr val="bg1">
                    <a:lumMod val="65000"/>
                  </a:schemeClr>
                </a:solidFill>
                <a:latin typeface="+mj-lt"/>
              </a:rPr>
              <a:t>7. </a:t>
            </a:r>
            <a:endParaRPr lang="ru-RU" sz="115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729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753054" y="1032836"/>
            <a:ext cx="10781651" cy="3810640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Массив (</a:t>
            </a:r>
            <a:r>
              <a:rPr 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Array</a:t>
            </a:r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— это непрерывная область памяти, выделенная для хранения однотипных данных.</a:t>
            </a:r>
          </a:p>
          <a:p>
            <a:r>
              <a:rPr 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Память и адреса</a:t>
            </a:r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Вся программа работает с одной оперативной памятью (ОЗУ), состоящей из пронумерованных ячеек (адресов).</a:t>
            </a:r>
          </a:p>
          <a:p>
            <a:r>
              <a:rPr 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Доступ по адресу</a:t>
            </a:r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Вместо имен переменных можно думать о прямом доступе к данным по адресу ячейки.</a:t>
            </a:r>
          </a:p>
          <a:p>
            <a:r>
              <a:rPr 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Непрерывность и Однотипность</a:t>
            </a:r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lvl="1"/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Элементы массива </a:t>
            </a:r>
            <a:r>
              <a:rPr 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должны</a:t>
            </a:r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лежать строго подряд в памяти.</a:t>
            </a:r>
          </a:p>
          <a:p>
            <a:pPr lvl="1"/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Все элементы должны быть </a:t>
            </a:r>
            <a:r>
              <a:rPr 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одного типа</a:t>
            </a:r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(например, целые числа), занимая одинаковый объём памяти (k ячеек).</a:t>
            </a:r>
          </a:p>
          <a:p>
            <a:r>
              <a:rPr 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Формула доступа к элементу</a:t>
            </a:r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</a:p>
          <a:p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Адрес n-</a:t>
            </a:r>
            <a:r>
              <a:rPr 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го</a:t>
            </a:r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элемента=Адрес начала </a:t>
            </a:r>
            <a:r>
              <a:rPr 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массива+n×k</a:t>
            </a:r>
            <a:endParaRPr 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Неизменяемый размер</a:t>
            </a:r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Поскольку память до и после массива может быть занята другими данными, </a:t>
            </a:r>
            <a:r>
              <a:rPr 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менять размер массива нельзя</a:t>
            </a:r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(статический размер).</a:t>
            </a:r>
          </a:p>
        </p:txBody>
      </p:sp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ru-RU" dirty="0" smtClean="0"/>
              <a:t>Введение в </a:t>
            </a:r>
            <a:r>
              <a:rPr lang="en-US" dirty="0" smtClean="0"/>
              <a:t>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Массивы</a:t>
            </a:r>
            <a:endParaRPr lang="ru-RU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942062"/>
              </p:ext>
            </p:extLst>
          </p:nvPr>
        </p:nvGraphicFramePr>
        <p:xfrm>
          <a:off x="1536676" y="4890891"/>
          <a:ext cx="9032712" cy="14273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8568"/>
                <a:gridCol w="916768"/>
                <a:gridCol w="916768"/>
                <a:gridCol w="916768"/>
                <a:gridCol w="916768"/>
                <a:gridCol w="916768"/>
                <a:gridCol w="916768"/>
                <a:gridCol w="916768"/>
                <a:gridCol w="916768"/>
              </a:tblGrid>
              <a:tr h="380629">
                <a:tc gridSpan="9">
                  <a:txBody>
                    <a:bodyPr/>
                    <a:lstStyle/>
                    <a:p>
                      <a:pPr algn="ctr"/>
                      <a:r>
                        <a:rPr lang="ru-RU" sz="1800" b="1" dirty="0" smtClean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Массив</a:t>
                      </a:r>
                      <a:endParaRPr lang="en-US" sz="200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</a:tr>
              <a:tr h="3806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8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Индексы</a:t>
                      </a:r>
                      <a:endParaRPr lang="ru-RU" sz="1800" dirty="0" smtClean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</a:t>
                      </a:r>
                      <a:endParaRPr lang="ru-RU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endParaRPr lang="ru-RU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  <a:endParaRPr lang="ru-RU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</a:t>
                      </a:r>
                      <a:endParaRPr lang="ru-RU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</a:t>
                      </a:r>
                      <a:endParaRPr lang="ru-RU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</a:t>
                      </a:r>
                      <a:endParaRPr lang="ru-RU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</a:t>
                      </a:r>
                      <a:endParaRPr lang="ru-RU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</a:t>
                      </a:r>
                      <a:endParaRPr lang="ru-RU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</a:tr>
              <a:tr h="666101"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Значения</a:t>
                      </a:r>
                      <a:endParaRPr lang="ru-RU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</a:t>
                      </a:r>
                      <a:endParaRPr lang="ru-RU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532</a:t>
                      </a:r>
                      <a:endParaRPr lang="ru-RU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423</a:t>
                      </a:r>
                      <a:endParaRPr lang="ru-RU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</a:t>
                      </a:r>
                      <a:endParaRPr lang="ru-RU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</a:t>
                      </a:r>
                      <a:r>
                        <a:rPr lang="en-US" sz="18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</a:t>
                      </a:r>
                      <a:r>
                        <a:rPr lang="ru-RU" sz="18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  <a:endParaRPr lang="ru-RU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</a:t>
                      </a:r>
                      <a:endParaRPr lang="ru-RU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</a:t>
                      </a:r>
                      <a:endParaRPr lang="ru-RU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65</a:t>
                      </a:r>
                      <a:endParaRPr lang="ru-RU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4227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Списки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730331" y="1074372"/>
            <a:ext cx="10903430" cy="3148005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 err="1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list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(Список) — это динамически изменяемый массив произвольных объектов в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Python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Динамическая типизация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Список может хранить объекты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произвольных типов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(строки, числа, другие списки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).</a:t>
            </a: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Механизм хранения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В самом списке хранятся не объекты, а только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идентификаторы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(ссылки/адреса) 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объектов.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b="1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Все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идентификаторы имеют одинаковый тип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и размер (это просто адреса), поэтому сам список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является традиционным массивом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— массивом 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ссылок.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Сами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объекты хранятся в памяти "где ни попадя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".</a:t>
            </a:r>
            <a:endParaRPr lang="ru-RU" altLang="ru-RU" sz="1800" b="1" dirty="0" smtClean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b="1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Изменяемость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Mutable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Список — это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первый изменяемый объект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в нашем курсе:</a:t>
            </a:r>
          </a:p>
          <a:p>
            <a:pPr lvl="1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Задаётся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квадратными скобками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L = [1, '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text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', 3.14]</a:t>
            </a:r>
          </a:p>
          <a:p>
            <a:pPr lvl="1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Можно изменять элементы по индексу: L[i] = 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2345</a:t>
            </a: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029172"/>
              </p:ext>
            </p:extLst>
          </p:nvPr>
        </p:nvGraphicFramePr>
        <p:xfrm>
          <a:off x="1724397" y="4332058"/>
          <a:ext cx="9032712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8568"/>
                <a:gridCol w="916768"/>
                <a:gridCol w="916768"/>
                <a:gridCol w="916768"/>
                <a:gridCol w="916768"/>
                <a:gridCol w="916768"/>
                <a:gridCol w="916768"/>
                <a:gridCol w="916768"/>
                <a:gridCol w="916768"/>
              </a:tblGrid>
              <a:tr h="283585">
                <a:tc gridSpan="9">
                  <a:txBody>
                    <a:bodyPr/>
                    <a:lstStyle/>
                    <a:p>
                      <a:pPr algn="ctr"/>
                      <a:r>
                        <a:rPr lang="ru-RU" sz="1800" b="1" dirty="0" smtClean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Список в </a:t>
                      </a:r>
                      <a:r>
                        <a:rPr lang="en-US" sz="1800" b="1" dirty="0" smtClean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Python</a:t>
                      </a:r>
                      <a:endParaRPr lang="en-US" sz="200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</a:tr>
              <a:tr h="3091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8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Индексы</a:t>
                      </a:r>
                      <a:endParaRPr lang="ru-RU" sz="1800" dirty="0" smtClean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</a:t>
                      </a:r>
                      <a:endParaRPr lang="ru-RU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endParaRPr lang="ru-RU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  <a:endParaRPr lang="ru-RU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</a:t>
                      </a:r>
                      <a:endParaRPr lang="ru-RU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</a:t>
                      </a:r>
                      <a:endParaRPr lang="ru-RU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</a:t>
                      </a:r>
                      <a:endParaRPr lang="ru-RU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</a:t>
                      </a:r>
                      <a:endParaRPr lang="ru-RU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</a:t>
                      </a:r>
                      <a:endParaRPr lang="ru-RU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</a:tr>
              <a:tr h="354482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id</a:t>
                      </a:r>
                      <a:r>
                        <a:rPr lang="en-US" sz="1800" baseline="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ru-RU" sz="1800" baseline="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объектов</a:t>
                      </a:r>
                      <a:endParaRPr lang="ru-RU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3675845"/>
              </p:ext>
            </p:extLst>
          </p:nvPr>
        </p:nvGraphicFramePr>
        <p:xfrm>
          <a:off x="1747348" y="5744945"/>
          <a:ext cx="9032712" cy="5287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8568"/>
                <a:gridCol w="916768"/>
                <a:gridCol w="916768"/>
                <a:gridCol w="916768"/>
                <a:gridCol w="916768"/>
                <a:gridCol w="916768"/>
                <a:gridCol w="916768"/>
                <a:gridCol w="916768"/>
                <a:gridCol w="916768"/>
              </a:tblGrid>
              <a:tr h="528703"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Объекты</a:t>
                      </a:r>
                      <a:endParaRPr lang="ru-RU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43</a:t>
                      </a:r>
                      <a:endParaRPr lang="ru-RU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“QQ”</a:t>
                      </a:r>
                      <a:endParaRPr lang="ru-RU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68</a:t>
                      </a:r>
                      <a:endParaRPr lang="ru-RU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</a:t>
                      </a:r>
                      <a:endParaRPr lang="ru-RU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None</a:t>
                      </a:r>
                      <a:endParaRPr lang="ru-RU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12.3</a:t>
                      </a:r>
                      <a:endParaRPr lang="ru-RU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[]</a:t>
                      </a:r>
                      <a:endParaRPr lang="ru-RU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-1</a:t>
                      </a:r>
                      <a:endParaRPr lang="ru-RU" sz="1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cxnSp>
        <p:nvCxnSpPr>
          <p:cNvPr id="10" name="Прямая со стрелкой 9"/>
          <p:cNvCxnSpPr/>
          <p:nvPr/>
        </p:nvCxnSpPr>
        <p:spPr>
          <a:xfrm>
            <a:off x="3880646" y="5304778"/>
            <a:ext cx="0" cy="432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/>
          <p:cNvCxnSpPr/>
          <p:nvPr/>
        </p:nvCxnSpPr>
        <p:spPr>
          <a:xfrm>
            <a:off x="4804011" y="5304427"/>
            <a:ext cx="0" cy="432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5718411" y="5304427"/>
            <a:ext cx="0" cy="432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/>
          <p:nvPr/>
        </p:nvCxnSpPr>
        <p:spPr>
          <a:xfrm>
            <a:off x="6641776" y="5304076"/>
            <a:ext cx="0" cy="432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/>
          <p:nvPr/>
        </p:nvCxnSpPr>
        <p:spPr>
          <a:xfrm>
            <a:off x="7560359" y="5312945"/>
            <a:ext cx="0" cy="432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/>
          <p:nvPr/>
        </p:nvCxnSpPr>
        <p:spPr>
          <a:xfrm>
            <a:off x="8483724" y="5312594"/>
            <a:ext cx="0" cy="432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/>
          <p:nvPr/>
        </p:nvCxnSpPr>
        <p:spPr>
          <a:xfrm>
            <a:off x="9398124" y="5312594"/>
            <a:ext cx="0" cy="432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/>
          <p:nvPr/>
        </p:nvCxnSpPr>
        <p:spPr>
          <a:xfrm>
            <a:off x="10321489" y="5312243"/>
            <a:ext cx="0" cy="432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977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683370" y="1192305"/>
            <a:ext cx="10827312" cy="4724401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b="1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Свободное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место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Python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резервирует немного свободного места (буфера) в конце массива ссылок.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Копирование / Удвоение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Когда свободное место заканчивается,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Python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выделяет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новую, более крупную область памяти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копирует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в неё весь старый массив ссылок и освобождает старую область.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Проверка границ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Автоматические проверки на выход за пределы массива (если пытаемся обратиться к несуществующему индексу).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endParaRPr lang="ru-RU" altLang="ru-RU" sz="1800" b="1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b="1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Быстрые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операции </a:t>
            </a:r>
            <a:r>
              <a:rPr lang="ru-RU" altLang="ru-RU" sz="1800" b="1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(сложность O(1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- Константное время)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lvl="1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Добавление в конец (.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append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()): Если есть свободный буфер.</a:t>
            </a:r>
          </a:p>
          <a:p>
            <a:pPr lvl="1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Удаление с конца (.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pop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()): Быстро, не требует сдвига.</a:t>
            </a:r>
          </a:p>
          <a:p>
            <a:pPr lvl="1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Чтение/запись по индексу: Прямой доступ к адресу ссылки.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Линейная сложность </a:t>
            </a:r>
            <a:r>
              <a:rPr lang="ru-RU" altLang="ru-RU" sz="1800" b="1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(сложность O(N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- Пропорционально длине N)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lvl="1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Добавление/удаление в начало или середину: Требует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сдвига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всех последующих элементов в массиве ссылок.</a:t>
            </a:r>
          </a:p>
          <a:p>
            <a:pPr lvl="1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Присваивание секций (например, L[1:3] = [10, 20, 30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]).</a:t>
            </a: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Введение в </a:t>
            </a:r>
            <a:r>
              <a:rPr lang="en-US" smtClean="0"/>
              <a:t>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Динамический размер и Сложность операций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8485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Введение в </a:t>
            </a:r>
            <a:r>
              <a:rPr lang="en-US" smtClean="0"/>
              <a:t>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Ссылки, Копирование и Изменяемость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868990" y="1586754"/>
            <a:ext cx="10940277" cy="3869774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Python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имя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(переменная) — это просто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ссылка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на объект в памяти.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L1 = [1, 2]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Создаётся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объект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(список [1, 2]), и имя L1 связывается с его адресом.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L2 = L1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Не создаёт новый список! Имя L2 просто связывается с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тем же адресом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что и L1. Оба имени указывают на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один и тот же объект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endParaRPr lang="ru-RU" altLang="ru-RU" sz="1800" dirty="0" smtClean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Кортежи (</a:t>
            </a: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tuple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как неизменяемые последовательности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Кортеж нельзя изменить: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my_tuple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[0] = 5 вызовет ошибку.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Если T2 = T1, и мы "меняем" T1, на самом деле создаётся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новый кортеж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и T1 начинает ссылаться на него. T2 при этом продолжает ссылаться на старый, неизмененный объект.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endParaRPr lang="ru-RU" altLang="ru-RU" sz="1800" b="1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Поверхностное копирование: .</a:t>
            </a: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copy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Метод .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copy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 (или L[:]) создаёт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новый список-оболочку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с новым адресом (ID).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Однако этот новый список копирует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старые ссылки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на элементы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951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 dirty="0" smtClean="0"/>
              <a:t>Введение в </a:t>
            </a:r>
            <a:r>
              <a:rPr lang="en-US" dirty="0" smtClean="0"/>
              <a:t>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Генераторы списков</a:t>
            </a:r>
            <a:endParaRPr lang="ru-RU" dirty="0"/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2" descr="https://cf3.ppt-online.org/files3/slide/3/3TpfO6SmwgcyNJRMdoqslrLC0DHPKzjQFIx4YU/slide-5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06" b="6635"/>
          <a:stretch/>
        </p:blipFill>
        <p:spPr bwMode="auto">
          <a:xfrm>
            <a:off x="1800914" y="1209424"/>
            <a:ext cx="8015439" cy="4884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0398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Введение в </a:t>
            </a:r>
            <a:r>
              <a:rPr lang="en-US" smtClean="0"/>
              <a:t>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Цикл </a:t>
            </a:r>
            <a:r>
              <a:rPr lang="en-US" dirty="0" smtClean="0"/>
              <a:t>for</a:t>
            </a:r>
            <a:endParaRPr lang="ru-RU" dirty="0"/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3687369" y="4912503"/>
            <a:ext cx="5066765" cy="984885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buAutoNum type="arabicPlain"/>
            </a:pPr>
            <a:r>
              <a:rPr lang="ru-RU" sz="1600" dirty="0" err="1">
                <a:latin typeface="courier"/>
              </a:rPr>
              <a:t>for</a:t>
            </a:r>
            <a:r>
              <a:rPr lang="ru-RU" sz="1600" dirty="0">
                <a:latin typeface="courier"/>
              </a:rPr>
              <a:t> элемент </a:t>
            </a:r>
            <a:r>
              <a:rPr lang="ru-RU" sz="1600" dirty="0" err="1">
                <a:latin typeface="courier"/>
              </a:rPr>
              <a:t>in</a:t>
            </a:r>
            <a:r>
              <a:rPr lang="ru-RU" sz="1600" dirty="0">
                <a:latin typeface="courier"/>
              </a:rPr>
              <a:t> </a:t>
            </a:r>
            <a:r>
              <a:rPr lang="ru-RU" sz="1600" dirty="0" smtClean="0">
                <a:latin typeface="courier"/>
              </a:rPr>
              <a:t>последовательность:</a:t>
            </a:r>
            <a:endParaRPr lang="en-US" sz="1600" dirty="0" smtClean="0">
              <a:latin typeface="courier"/>
            </a:endParaRPr>
          </a:p>
          <a:p>
            <a:pPr marL="342900" lvl="0" indent="-342900">
              <a:buAutoNum type="arabicPlain"/>
            </a:pPr>
            <a:r>
              <a:rPr lang="ru-RU" sz="1600" dirty="0" smtClean="0">
                <a:latin typeface="courier"/>
              </a:rPr>
              <a:t>    </a:t>
            </a:r>
            <a:r>
              <a:rPr lang="ru-RU" sz="1600" dirty="0">
                <a:latin typeface="courier"/>
              </a:rPr>
              <a:t># Тело цикла </a:t>
            </a:r>
            <a:endParaRPr lang="en-US" sz="1600" dirty="0" smtClean="0">
              <a:latin typeface="courier"/>
            </a:endParaRPr>
          </a:p>
          <a:p>
            <a:pPr marL="342900" lvl="0" indent="-342900">
              <a:buAutoNum type="arabicPlain"/>
            </a:pPr>
            <a:r>
              <a:rPr lang="en-US" sz="1600" dirty="0">
                <a:latin typeface="courier"/>
              </a:rPr>
              <a:t> </a:t>
            </a:r>
            <a:r>
              <a:rPr lang="en-US" sz="1600" dirty="0" smtClean="0">
                <a:latin typeface="courier"/>
              </a:rPr>
              <a:t>   </a:t>
            </a:r>
            <a:r>
              <a:rPr lang="ru-RU" sz="1600" dirty="0" smtClean="0">
                <a:latin typeface="courier"/>
              </a:rPr>
              <a:t>оператор-1    </a:t>
            </a:r>
            <a:endParaRPr lang="en-US" sz="1600" dirty="0" smtClean="0">
              <a:latin typeface="courier"/>
            </a:endParaRPr>
          </a:p>
          <a:p>
            <a:pPr marL="342900" lvl="0" indent="-342900">
              <a:buAutoNum type="arabicPlain"/>
            </a:pPr>
            <a:r>
              <a:rPr lang="en-US" sz="1600" dirty="0" smtClean="0">
                <a:latin typeface="courier"/>
              </a:rPr>
              <a:t>    </a:t>
            </a:r>
            <a:r>
              <a:rPr lang="ru-RU" sz="1600" dirty="0" smtClean="0">
                <a:latin typeface="courier"/>
              </a:rPr>
              <a:t>оператор-2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786150" y="1077169"/>
            <a:ext cx="4572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dirty="0" smtClean="0">
                <a:latin typeface="Arial" panose="020B0604020202020204" pitchFamily="34" charset="0"/>
              </a:rPr>
              <a:t>Проход всего</a:t>
            </a:r>
            <a:endParaRPr lang="en-US" dirty="0" smtClean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</a:endParaRPr>
          </a:p>
          <a:p>
            <a:endParaRPr lang="ru-RU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</a:rPr>
              <a:t>Проход по </a:t>
            </a:r>
            <a:r>
              <a:rPr lang="ru-RU" dirty="0" smtClean="0">
                <a:latin typeface="Arial" panose="020B0604020202020204" pitchFamily="34" charset="0"/>
              </a:rPr>
              <a:t>индексам</a:t>
            </a:r>
            <a:endParaRPr lang="en-US" dirty="0" smtClean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 smtClean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</a:endParaRPr>
          </a:p>
          <a:p>
            <a:endParaRPr lang="ru-RU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</a:rPr>
              <a:t>Поиск первого</a:t>
            </a: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3130465" y="1010720"/>
            <a:ext cx="3614094" cy="738664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1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courier"/>
              </a:rPr>
              <a:t> </a:t>
            </a:r>
            <a:r>
              <a:rPr kumimoji="0" lang="en-US" alt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"/>
              </a:rPr>
              <a:t>S = [0,1,2,3,4,5,6,7]</a:t>
            </a:r>
            <a:endParaRPr kumimoji="0" lang="en-US" altLang="ru-RU" sz="1600" b="0" i="0" u="none" strike="noStrike" cap="none" normalizeH="0" baseline="0" dirty="0" smtClean="0">
              <a:ln>
                <a:noFill/>
              </a:ln>
              <a:solidFill>
                <a:srgbClr val="808080"/>
              </a:solidFill>
              <a:effectLst/>
              <a:latin typeface="courier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ru-RU" sz="1600" dirty="0" smtClean="0">
                <a:solidFill>
                  <a:srgbClr val="4477FF"/>
                </a:solidFill>
                <a:latin typeface="courier"/>
              </a:rPr>
              <a:t>2</a:t>
            </a:r>
            <a:r>
              <a:rPr lang="ru-RU" altLang="ru-RU" sz="1600" dirty="0" smtClean="0">
                <a:solidFill>
                  <a:srgbClr val="808080"/>
                </a:solidFill>
                <a:latin typeface="courier"/>
              </a:rPr>
              <a:t> 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solidFill>
                  <a:srgbClr val="A00000"/>
                </a:solidFill>
                <a:effectLst/>
                <a:latin typeface="courier"/>
              </a:rPr>
              <a:t>for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 </a:t>
            </a:r>
            <a:r>
              <a:rPr kumimoji="0" lang="en-US" altLang="ru-RU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i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 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solidFill>
                  <a:srgbClr val="A00000"/>
                </a:solidFill>
                <a:effectLst/>
                <a:latin typeface="courier"/>
              </a:rPr>
              <a:t>in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 </a:t>
            </a:r>
            <a:r>
              <a:rPr kumimoji="0" lang="en-US" alt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S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 smtClean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3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courier"/>
              </a:rPr>
              <a:t>     </a:t>
            </a:r>
            <a:r>
              <a:rPr lang="en-US" altLang="ru-RU" sz="1600" dirty="0" smtClean="0">
                <a:latin typeface="courier"/>
              </a:rPr>
              <a:t>print(</a:t>
            </a:r>
            <a:r>
              <a:rPr lang="en-US" altLang="ru-RU" sz="1600" dirty="0" err="1" smtClean="0">
                <a:latin typeface="courier"/>
              </a:rPr>
              <a:t>i</a:t>
            </a:r>
            <a:r>
              <a:rPr lang="en-US" altLang="ru-RU" sz="1600" dirty="0" smtClean="0">
                <a:latin typeface="courier"/>
              </a:rPr>
              <a:t>)</a:t>
            </a:r>
            <a:endParaRPr kumimoji="0" lang="ru-RU" alt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3130465" y="1935514"/>
            <a:ext cx="3614094" cy="738664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1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courier"/>
              </a:rPr>
              <a:t> </a:t>
            </a:r>
            <a:r>
              <a:rPr kumimoji="0" lang="en-US" alt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"/>
              </a:rPr>
              <a:t>S = [0,1,2,3,4,5,6,7]</a:t>
            </a:r>
            <a:endParaRPr kumimoji="0" lang="en-US" altLang="ru-RU" sz="1600" b="0" i="0" u="none" strike="noStrike" cap="none" normalizeH="0" baseline="0" dirty="0" smtClean="0">
              <a:ln>
                <a:noFill/>
              </a:ln>
              <a:solidFill>
                <a:srgbClr val="808080"/>
              </a:solidFill>
              <a:effectLst/>
              <a:latin typeface="courier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ru-RU" sz="1600" dirty="0" smtClean="0">
                <a:solidFill>
                  <a:srgbClr val="4477FF"/>
                </a:solidFill>
                <a:latin typeface="courier"/>
              </a:rPr>
              <a:t>2</a:t>
            </a:r>
            <a:r>
              <a:rPr lang="ru-RU" altLang="ru-RU" sz="1600" dirty="0" smtClean="0">
                <a:solidFill>
                  <a:srgbClr val="808080"/>
                </a:solidFill>
                <a:latin typeface="courier"/>
              </a:rPr>
              <a:t> 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solidFill>
                  <a:srgbClr val="A00000"/>
                </a:solidFill>
                <a:effectLst/>
                <a:latin typeface="courier"/>
              </a:rPr>
              <a:t>for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 </a:t>
            </a:r>
            <a:r>
              <a:rPr kumimoji="0" lang="en-US" altLang="ru-RU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i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 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solidFill>
                  <a:srgbClr val="A00000"/>
                </a:solidFill>
                <a:effectLst/>
                <a:latin typeface="courier"/>
              </a:rPr>
              <a:t>in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 </a:t>
            </a:r>
            <a:r>
              <a:rPr kumimoji="0" lang="en-US" alt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range(</a:t>
            </a:r>
            <a:r>
              <a:rPr kumimoji="0" lang="en-US" altLang="ru-RU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len</a:t>
            </a:r>
            <a:r>
              <a:rPr kumimoji="0" lang="en-US" alt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(S))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 smtClean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3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courier"/>
              </a:rPr>
              <a:t>     </a:t>
            </a:r>
            <a:r>
              <a:rPr lang="en-US" altLang="ru-RU" sz="1600" dirty="0" smtClean="0">
                <a:latin typeface="courier"/>
              </a:rPr>
              <a:t>print(S[</a:t>
            </a:r>
            <a:r>
              <a:rPr lang="en-US" altLang="ru-RU" sz="1600" dirty="0" err="1" smtClean="0">
                <a:latin typeface="courier"/>
              </a:rPr>
              <a:t>i</a:t>
            </a:r>
            <a:r>
              <a:rPr lang="en-US" altLang="ru-RU" sz="1600" dirty="0" smtClean="0">
                <a:latin typeface="courier"/>
              </a:rPr>
              <a:t>])</a:t>
            </a:r>
            <a:endParaRPr kumimoji="0" lang="ru-RU" alt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3130465" y="2860308"/>
            <a:ext cx="3614094" cy="196977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1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courier"/>
              </a:rPr>
              <a:t> </a:t>
            </a:r>
            <a:r>
              <a:rPr kumimoji="0" lang="en-US" alt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"/>
              </a:rPr>
              <a:t>S = [0,1,2,3,4,5,6,7]</a:t>
            </a:r>
            <a:endParaRPr kumimoji="0" lang="en-US" altLang="ru-RU" sz="1600" b="0" i="0" u="none" strike="noStrike" cap="none" normalizeH="0" baseline="0" dirty="0" smtClean="0">
              <a:ln>
                <a:noFill/>
              </a:ln>
              <a:solidFill>
                <a:srgbClr val="808080"/>
              </a:solidFill>
              <a:effectLst/>
              <a:latin typeface="courier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ru-RU" sz="1600" dirty="0" smtClean="0">
                <a:solidFill>
                  <a:srgbClr val="4477FF"/>
                </a:solidFill>
                <a:latin typeface="courier"/>
              </a:rPr>
              <a:t>2</a:t>
            </a:r>
            <a:r>
              <a:rPr lang="ru-RU" altLang="ru-RU" sz="1600" dirty="0" smtClean="0">
                <a:solidFill>
                  <a:srgbClr val="808080"/>
                </a:solidFill>
                <a:latin typeface="courier"/>
              </a:rPr>
              <a:t> 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solidFill>
                  <a:srgbClr val="A00000"/>
                </a:solidFill>
                <a:effectLst/>
                <a:latin typeface="courier"/>
              </a:rPr>
              <a:t>for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 </a:t>
            </a:r>
            <a:r>
              <a:rPr kumimoji="0" lang="en-US" altLang="ru-RU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i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 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solidFill>
                  <a:srgbClr val="A00000"/>
                </a:solidFill>
                <a:effectLst/>
                <a:latin typeface="courier"/>
              </a:rPr>
              <a:t>in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 </a:t>
            </a:r>
            <a:r>
              <a:rPr kumimoji="0" lang="en-US" alt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S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ru-RU" sz="1600" dirty="0">
                <a:solidFill>
                  <a:srgbClr val="4477FF"/>
                </a:solidFill>
                <a:latin typeface="courier"/>
              </a:rPr>
              <a:t>3</a:t>
            </a:r>
            <a:r>
              <a:rPr lang="ru-RU" altLang="ru-RU" sz="1600" dirty="0">
                <a:solidFill>
                  <a:srgbClr val="808080"/>
                </a:solidFill>
                <a:latin typeface="courier"/>
              </a:rPr>
              <a:t>     </a:t>
            </a:r>
            <a:r>
              <a:rPr lang="en-US" altLang="ru-RU" sz="1600" dirty="0">
                <a:latin typeface="courier"/>
              </a:rPr>
              <a:t>if </a:t>
            </a:r>
            <a:r>
              <a:rPr lang="en-US" altLang="ru-RU" sz="1600" dirty="0" err="1">
                <a:latin typeface="courier"/>
              </a:rPr>
              <a:t>i</a:t>
            </a:r>
            <a:r>
              <a:rPr lang="en-US" altLang="ru-RU" sz="1600" dirty="0">
                <a:latin typeface="courier"/>
              </a:rPr>
              <a:t> == 5: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ru-RU" sz="1600" dirty="0">
                <a:solidFill>
                  <a:srgbClr val="4477FF"/>
                </a:solidFill>
                <a:latin typeface="courier"/>
              </a:rPr>
              <a:t>4</a:t>
            </a:r>
            <a:r>
              <a:rPr lang="ru-RU" altLang="ru-RU" sz="1600" dirty="0">
                <a:solidFill>
                  <a:srgbClr val="808080"/>
                </a:solidFill>
                <a:latin typeface="courier"/>
              </a:rPr>
              <a:t>     </a:t>
            </a:r>
            <a:r>
              <a:rPr lang="en-US" altLang="ru-RU" sz="1600" dirty="0">
                <a:solidFill>
                  <a:srgbClr val="808080"/>
                </a:solidFill>
                <a:latin typeface="courier"/>
              </a:rPr>
              <a:t>    </a:t>
            </a:r>
            <a:r>
              <a:rPr lang="en-US" altLang="ru-RU" sz="1600" dirty="0" err="1">
                <a:latin typeface="courier"/>
              </a:rPr>
              <a:t>i</a:t>
            </a:r>
            <a:r>
              <a:rPr lang="en-US" altLang="ru-RU" sz="1600" dirty="0">
                <a:latin typeface="courier"/>
              </a:rPr>
              <a:t> += 100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ru-RU" sz="1600" dirty="0" smtClean="0">
                <a:solidFill>
                  <a:srgbClr val="4477FF"/>
                </a:solidFill>
                <a:latin typeface="courier"/>
              </a:rPr>
              <a:t>5</a:t>
            </a:r>
            <a:r>
              <a:rPr lang="ru-RU" altLang="ru-RU" sz="1600" dirty="0" smtClean="0">
                <a:solidFill>
                  <a:srgbClr val="808080"/>
                </a:solidFill>
                <a:latin typeface="courier"/>
              </a:rPr>
              <a:t>     </a:t>
            </a:r>
            <a:r>
              <a:rPr lang="en-US" altLang="ru-RU" sz="1600" dirty="0" smtClean="0">
                <a:solidFill>
                  <a:srgbClr val="808080"/>
                </a:solidFill>
                <a:latin typeface="courier"/>
              </a:rPr>
              <a:t>    </a:t>
            </a:r>
            <a:r>
              <a:rPr lang="en-US" altLang="ru-RU" sz="1600" dirty="0" smtClean="0">
                <a:latin typeface="courier"/>
              </a:rPr>
              <a:t>print(</a:t>
            </a:r>
            <a:r>
              <a:rPr lang="en-US" altLang="ru-RU" sz="1600" dirty="0" err="1" smtClean="0">
                <a:latin typeface="courier"/>
              </a:rPr>
              <a:t>i</a:t>
            </a:r>
            <a:r>
              <a:rPr lang="en-US" altLang="ru-RU" sz="1600" dirty="0" smtClean="0">
                <a:latin typeface="courier"/>
              </a:rPr>
              <a:t>)</a:t>
            </a:r>
            <a:r>
              <a:rPr lang="en-US" altLang="ru-RU" sz="1600" dirty="0" smtClean="0">
                <a:solidFill>
                  <a:srgbClr val="4477FF"/>
                </a:solidFill>
                <a:latin typeface="courier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ru-RU" sz="1600" dirty="0" smtClean="0">
                <a:solidFill>
                  <a:srgbClr val="4477FF"/>
                </a:solidFill>
                <a:latin typeface="courier"/>
              </a:rPr>
              <a:t>6</a:t>
            </a:r>
            <a:r>
              <a:rPr lang="ru-RU" altLang="ru-RU" sz="1600" dirty="0" smtClean="0">
                <a:solidFill>
                  <a:srgbClr val="808080"/>
                </a:solidFill>
                <a:latin typeface="courier"/>
              </a:rPr>
              <a:t>     </a:t>
            </a:r>
            <a:r>
              <a:rPr lang="en-US" altLang="ru-RU" sz="1600" dirty="0" smtClean="0">
                <a:solidFill>
                  <a:srgbClr val="808080"/>
                </a:solidFill>
                <a:latin typeface="courier"/>
              </a:rPr>
              <a:t>    </a:t>
            </a:r>
            <a:r>
              <a:rPr lang="en-US" altLang="ru-RU" sz="1600" dirty="0" smtClean="0">
                <a:latin typeface="courier"/>
              </a:rPr>
              <a:t>break</a:t>
            </a:r>
            <a:endParaRPr lang="en-US" altLang="ru-RU" sz="1600" dirty="0">
              <a:latin typeface="courier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ru-RU" sz="1600" dirty="0" smtClean="0">
                <a:solidFill>
                  <a:srgbClr val="4477FF"/>
                </a:solidFill>
                <a:latin typeface="courier"/>
              </a:rPr>
              <a:t>7</a:t>
            </a:r>
            <a:r>
              <a:rPr lang="ru-RU" altLang="ru-RU" sz="1600" dirty="0" smtClean="0">
                <a:solidFill>
                  <a:srgbClr val="808080"/>
                </a:solidFill>
                <a:latin typeface="courier"/>
              </a:rPr>
              <a:t> </a:t>
            </a:r>
            <a:r>
              <a:rPr lang="en-US" altLang="ru-RU" sz="1600" dirty="0" smtClean="0">
                <a:solidFill>
                  <a:schemeClr val="tx1"/>
                </a:solidFill>
                <a:latin typeface="courier"/>
              </a:rPr>
              <a:t>else: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ru-RU" sz="1600" dirty="0" smtClean="0">
                <a:solidFill>
                  <a:srgbClr val="4477FF"/>
                </a:solidFill>
                <a:latin typeface="courier"/>
              </a:rPr>
              <a:t>8</a:t>
            </a:r>
            <a:r>
              <a:rPr lang="ru-RU" altLang="ru-RU" sz="1600" dirty="0" smtClean="0">
                <a:solidFill>
                  <a:srgbClr val="808080"/>
                </a:solidFill>
                <a:latin typeface="courier"/>
              </a:rPr>
              <a:t>     </a:t>
            </a:r>
            <a:r>
              <a:rPr lang="en-US" altLang="ru-RU" sz="1600" dirty="0" smtClean="0">
                <a:latin typeface="courier"/>
              </a:rPr>
              <a:t>print(“not found”)</a:t>
            </a:r>
            <a:endParaRPr lang="en-US" altLang="ru-RU" sz="1600" dirty="0"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87279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Для замены титула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dirty="0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Газпром ВНИИГАЗ_Основной титул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азпром ВНИИГАЗ_Основной титул" id="{C397697F-F5E1-4298-A648-3DC45A8263DA}" vid="{9BE9E90D-8CDA-425F-BD50-9BB6D7E31679}"/>
    </a:ext>
  </a:extLst>
</a:theme>
</file>

<file path=ppt/theme/theme3.xml><?xml version="1.0" encoding="utf-8"?>
<a:theme xmlns:a="http://schemas.openxmlformats.org/drawingml/2006/main" name="Газпром ВНИИГАЗ_Шмуцтитулы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азпром ВНИИГАЗ_Шмуцтитулы" id="{5F303918-08FC-4850-AA74-3F40398BD930}" vid="{354D9BAA-3665-4909-BAE5-D51A27A7D6DF}"/>
    </a:ext>
  </a:extLst>
</a:theme>
</file>

<file path=ppt/theme/theme4.xml><?xml version="1.0" encoding="utf-8"?>
<a:theme xmlns:a="http://schemas.openxmlformats.org/drawingml/2006/main" name="Газпром ВНИИГАЗ_Типовые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Arial Narrow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Газпром ВНИИГАЗ_Типовые" id="{32D3D2F1-3E8A-4560-A7AD-937C36AE1383}" vid="{2DE00677-BDF2-4C88-86FA-F05D27BA9E75}"/>
    </a:ext>
  </a:extLst>
</a:theme>
</file>

<file path=ppt/theme/theme5.xml><?xml version="1.0" encoding="utf-8"?>
<a:theme xmlns:a="http://schemas.openxmlformats.org/drawingml/2006/main" name="Газпром ВНИИГАЗ_Спасибо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азпром ВНИИГАЗ_Спасибо" id="{BA32FC82-268B-4C6A-B9AE-63B85559129D}" vid="{9F1884DA-6748-46E7-BE0B-48E86C89EB8C}"/>
    </a:ext>
  </a:extLst>
</a:theme>
</file>

<file path=ppt/theme/theme6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20742</TotalTime>
  <Words>701</Words>
  <Application>Microsoft Office PowerPoint</Application>
  <PresentationFormat>Широкоэкранный</PresentationFormat>
  <Paragraphs>123</Paragraphs>
  <Slides>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5</vt:i4>
      </vt:variant>
      <vt:variant>
        <vt:lpstr>Заголовки слайдов</vt:lpstr>
      </vt:variant>
      <vt:variant>
        <vt:i4>8</vt:i4>
      </vt:variant>
    </vt:vector>
  </HeadingPairs>
  <TitlesOfParts>
    <vt:vector size="18" baseType="lpstr">
      <vt:lpstr>Arial</vt:lpstr>
      <vt:lpstr>Arial Narrow</vt:lpstr>
      <vt:lpstr>Calibri</vt:lpstr>
      <vt:lpstr>courier</vt:lpstr>
      <vt:lpstr>Segoe UI</vt:lpstr>
      <vt:lpstr>Для замены титула</vt:lpstr>
      <vt:lpstr>Газпром ВНИИГАЗ_Основной титул</vt:lpstr>
      <vt:lpstr>Газпром ВНИИГАЗ_Шмуцтитулы</vt:lpstr>
      <vt:lpstr>Газпром ВНИИГАЗ_Типовые</vt:lpstr>
      <vt:lpstr>Газпром ВНИИГАЗ_Спасибо</vt:lpstr>
      <vt:lpstr>Презентация PowerPoint</vt:lpstr>
      <vt:lpstr>Презентация PowerPoint</vt:lpstr>
      <vt:lpstr>Массивы</vt:lpstr>
      <vt:lpstr>Списки</vt:lpstr>
      <vt:lpstr>Динамический размер и Сложность операций</vt:lpstr>
      <vt:lpstr>Ссылки, Копирование и Изменяемость</vt:lpstr>
      <vt:lpstr>Генераторы списков</vt:lpstr>
      <vt:lpstr>Цикл for</vt:lpstr>
    </vt:vector>
  </TitlesOfParts>
  <Company>OOO Gazprom VNIIGAZ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K_Remishevskaya</dc:creator>
  <cp:lastModifiedBy>cc</cp:lastModifiedBy>
  <cp:revision>1182</cp:revision>
  <cp:lastPrinted>2019-09-16T14:00:21Z</cp:lastPrinted>
  <dcterms:created xsi:type="dcterms:W3CDTF">2019-09-13T09:31:10Z</dcterms:created>
  <dcterms:modified xsi:type="dcterms:W3CDTF">2025-10-15T08:24:55Z</dcterms:modified>
</cp:coreProperties>
</file>