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7"/>
  </p:notesMasterIdLst>
  <p:handoutMasterIdLst>
    <p:handoutMasterId r:id="rId18"/>
  </p:handoutMasterIdLst>
  <p:sldIdLst>
    <p:sldId id="300" r:id="rId6"/>
    <p:sldId id="298" r:id="rId7"/>
    <p:sldId id="309" r:id="rId8"/>
    <p:sldId id="310" r:id="rId9"/>
    <p:sldId id="311" r:id="rId10"/>
    <p:sldId id="317" r:id="rId11"/>
    <p:sldId id="314" r:id="rId12"/>
    <p:sldId id="319" r:id="rId13"/>
    <p:sldId id="320" r:id="rId14"/>
    <p:sldId id="321" r:id="rId15"/>
    <p:sldId id="322" r:id="rId16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CBD7E9"/>
    <a:srgbClr val="4A596A"/>
    <a:srgbClr val="0079C2"/>
    <a:srgbClr val="8A9BAE"/>
    <a:srgbClr val="0051A3"/>
    <a:srgbClr val="004181"/>
    <a:srgbClr val="43B7F7"/>
    <a:srgbClr val="929A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5" autoAdjust="0"/>
    <p:restoredTop sz="96318" autoAdjust="0"/>
  </p:normalViewPr>
  <p:slideViewPr>
    <p:cSldViewPr snapToGrid="0" showGuides="1">
      <p:cViewPr varScale="1">
        <p:scale>
          <a:sx n="85" d="100"/>
          <a:sy n="85" d="100"/>
        </p:scale>
        <p:origin x="619" y="5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05.11.2025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05.11.2025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030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/>
              <a:t>Введение в </a:t>
            </a:r>
            <a:r>
              <a:rPr lang="en-US" altLang="ru-RU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246928" y="1576867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/>
              <a:t>Работа с файлами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28715" y="1562154"/>
            <a:ext cx="2204450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13</a:t>
            </a:r>
            <a:r>
              <a:rPr lang="ru-RU" sz="115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65412" y="1455552"/>
            <a:ext cx="10071475" cy="3770871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Обычные строки (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байтовые строки (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bytes)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разные типы: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текст для человека (символы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Unicode)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Пример: "Привет" или "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Hello"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набор байтов для компьютера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Пример: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b"Hello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или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b'\xd0\x9f\xd1\x80\xd0\xb8\xd0\xb2\xd0\xb5\xd1\x82'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состоит из чисел от 0 до 255 (байтов)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Обращение к элементу: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b[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]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даёт число, а не символ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Трюк для получения одного байта: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b[i:i+1]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вернёт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bytearray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изменяемая версия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 (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как список)</a:t>
            </a: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 dirty="0"/>
              <a:t>Введение в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Байтовые строки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22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Кодировки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53036" y="1267293"/>
            <a:ext cx="10291482" cy="4810777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Компьютер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понимает только числа (байты), а человек работает с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текстом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Кодировка — таблица соответствия: какому числу какой символ соответствует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Раньше: каждая страна делала свою кодировку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Для русского: КОИ8-Р, Windows-1251, CP866...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Без указания кодировки → "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кракозябры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Unicode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единый стандарт для всех языков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UTF-8 — самая популярная (1-4 байта на символ)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всегда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Unicode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(внутреннее представление)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str.encode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(кодировка) →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# текст в байты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bytes.decode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(кодировка) →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# байты в текст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Пример: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&gt;&gt;&gt; "Привет".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encode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("utf-8")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b'\xd0\x9f\xd1\x80\xd0\xb8\xd0\xb2\xd0\xb5\xd1\x82'</a:t>
            </a:r>
          </a:p>
        </p:txBody>
      </p:sp>
    </p:spTree>
    <p:extLst>
      <p:ext uri="{BB962C8B-B14F-4D97-AF65-F5344CB8AC3E}">
        <p14:creationId xmlns:p14="http://schemas.microsoft.com/office/powerpoint/2010/main" val="250977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Файлы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85482" y="1120941"/>
            <a:ext cx="10856260" cy="5073671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Файл — именованная область данных, имеющая для программы потоковую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структуру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 Открытие: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 = open(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имя, режим,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encoding="utf-8")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Режимы: "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r"=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чтение, "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w"=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запись, "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a"=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дозапись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"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r+"=</a:t>
            </a:r>
            <a:r>
              <a:rPr lang="ru-RU" altLang="ru-RU" sz="1800" dirty="0" err="1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чтение+запись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Чтение: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f.read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      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весь файл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f.readline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  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одна строка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f.readlines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 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список строк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line in f: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построчно (лучше для больших файлов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Запись: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f.write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текст")           # без \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print("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текст",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file=f)   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 \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Закрытие: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f.close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  <a:endParaRPr lang="ru-RU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Рекомендуется использовать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(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файл закроется автоматически):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open("file.txt", "r", encoding="utf-8") as f: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data =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f.read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Доп. методы: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f.seek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позиция),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f.tell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Стандартные потоки: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sys.stdin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sys.stdout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sys.stderr</a:t>
            </a:r>
            <a:endParaRPr lang="en-US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485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40897" y="1377781"/>
            <a:ext cx="4713017" cy="4337220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Как преобразовать из </a:t>
            </a:r>
            <a:r>
              <a:rPr lang="en-US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 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</a:t>
            </a:r>
            <a:r>
              <a:rPr lang="en-US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 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обратно?</a:t>
            </a: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Понятие кодировки. </a:t>
            </a:r>
            <a:r>
              <a:rPr lang="en-US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Unicode, UTF* 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прочее</a:t>
            </a: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Кодировка: соответствие некоторого числа конкретному символу (например, описанному в </a:t>
            </a:r>
            <a:r>
              <a:rPr lang="en-US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Unicode)</a:t>
            </a:r>
          </a:p>
          <a:p>
            <a:endParaRPr lang="en-US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Тысячи их</a:t>
            </a:r>
          </a:p>
          <a:p>
            <a:r>
              <a:rPr lang="en-US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UTF-8: 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то ли один байт, то ли два (то ли три, то ли четыре) </a:t>
            </a: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Однобайтные кодировки: без указания кодировки нельзя понять, что написано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442B17A9-AC8C-444F-AE2D-F06F63DF1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749" y="1566952"/>
            <a:ext cx="6912149" cy="3724096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1 &gt;&gt;&gt; txt = "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Вопрос"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2 &gt;&gt;&gt;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print(*map(hex, map(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ord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, txt)))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3 0x412 0x43e 0x43f 0x440 0x43e 0x441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4 &gt;&gt;&gt;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txt.encode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5 b'\xd0\x92\xd0\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xbe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xbf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\xd1\x80\xd0\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xbe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\xd1\x81'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6 &gt;&gt;&gt;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sys.getdefaultencoding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7 'utf-8'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8 &gt;&gt;&gt;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txt.encode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('utf-8')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9 b'\xd0\x92\xd0\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xbe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xbf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\xd1\x80\xd0\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xbe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\xd1\x81'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10 &gt;&gt;&gt;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txt.encode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('WINDOWS-1251')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11 b'\xc2\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xee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xef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\xf0\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xee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\xf1'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12 &gt;&gt;&gt;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txt.encode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('KOI8-R')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13 b'\xf7\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xcf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\xd0\xd2\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xcf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\xd3'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14 &gt;&gt;&gt;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txt.encode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('WINDOWS-1251').decode('KOI8-R')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15 '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бНОПНЯ'</a:t>
            </a:r>
          </a:p>
        </p:txBody>
      </p:sp>
      <p:sp>
        <p:nvSpPr>
          <p:cNvPr id="10" name="Заголовок 2"/>
          <p:cNvSpPr>
            <a:spLocks noGrp="1"/>
          </p:cNvSpPr>
          <p:nvPr>
            <p:ph type="title"/>
          </p:nvPr>
        </p:nvSpPr>
        <p:spPr>
          <a:xfrm>
            <a:off x="2246928" y="152400"/>
            <a:ext cx="9681547" cy="833021"/>
          </a:xfrm>
        </p:spPr>
        <p:txBody>
          <a:bodyPr/>
          <a:lstStyle/>
          <a:p>
            <a:r>
              <a:rPr lang="ru-RU" dirty="0" err="1"/>
              <a:t>бНОПНЯ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540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B4F400C5-80B9-42FF-804C-C6B969F04DE7}"/>
              </a:ext>
            </a:extLst>
          </p:cNvPr>
          <p:cNvSpPr/>
          <p:nvPr/>
        </p:nvSpPr>
        <p:spPr>
          <a:xfrm>
            <a:off x="448521" y="1380565"/>
            <a:ext cx="5495079" cy="4410636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Сериализация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превращение объекта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байты для сохранения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Модуль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pickle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сохраняет любые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Python-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объекты: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 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pickle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Сохранение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= {"name": "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Иван", "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scores": [95, 87, 92]}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open("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data.pkl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", 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") as f:  # 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 = write binary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pickle.dump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(data, f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Загрузка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open("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data.pkl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", 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") as f:  # 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 = read binary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loaded_data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pickle.load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(f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Заголовок 2"/>
          <p:cNvSpPr>
            <a:spLocks noGrp="1"/>
          </p:cNvSpPr>
          <p:nvPr>
            <p:ph type="title"/>
          </p:nvPr>
        </p:nvSpPr>
        <p:spPr>
          <a:xfrm>
            <a:off x="2246928" y="152400"/>
            <a:ext cx="9681547" cy="833021"/>
          </a:xfrm>
        </p:spPr>
        <p:txBody>
          <a:bodyPr/>
          <a:lstStyle/>
          <a:p>
            <a:r>
              <a:rPr lang="ru-RU" sz="2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Сериализация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B4F400C5-80B9-42FF-804C-C6B969F04DE7}"/>
              </a:ext>
            </a:extLst>
          </p:cNvPr>
          <p:cNvSpPr/>
          <p:nvPr/>
        </p:nvSpPr>
        <p:spPr>
          <a:xfrm>
            <a:off x="6329224" y="2000763"/>
            <a:ext cx="5536497" cy="2761131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Модуль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dbm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простая база данных (словарь на диске):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dbm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Работает как словарь, но данные на диске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dbm.open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data.db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", "c") as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 # "c" = create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["key"] = "value"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Сохраняется на диск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print(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["key"])   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Читается с диска</a:t>
            </a:r>
          </a:p>
        </p:txBody>
      </p:sp>
    </p:spTree>
    <p:extLst>
      <p:ext uri="{BB962C8B-B14F-4D97-AF65-F5344CB8AC3E}">
        <p14:creationId xmlns:p14="http://schemas.microsoft.com/office/powerpoint/2010/main" val="1472951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Модуль </a:t>
            </a:r>
            <a:r>
              <a:rPr lang="en-US" dirty="0" err="1" smtClean="0"/>
              <a:t>os</a:t>
            </a:r>
            <a:endParaRPr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442B17A9-AC8C-444F-AE2D-F06F63DF1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8668" y="1179854"/>
            <a:ext cx="6229269" cy="5170646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import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smtClean="0">
                <a:solidFill>
                  <a:srgbClr val="4477FF"/>
                </a:solidFill>
                <a:latin typeface="courier"/>
              </a:rPr>
              <a:t>#</a:t>
            </a:r>
            <a:r>
              <a:rPr lang="ru-RU" altLang="ru-RU" sz="1400" dirty="0" smtClean="0">
                <a:solidFill>
                  <a:srgbClr val="4477FF"/>
                </a:solidFill>
                <a:latin typeface="courier"/>
              </a:rPr>
              <a:t>Работа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с путями: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os.getcwd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()       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Текущая рабочая директория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os.chdir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("/home/user")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Изменить текущую директорию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os.path.exists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("file.txt")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Проверка существования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os.path.isfile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("file.txt")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Это файл?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os.path.isdir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("folder")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Это папка?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os.path.getsize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("file.txt")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Размер файла в байтах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smtClean="0">
                <a:solidFill>
                  <a:srgbClr val="4477FF"/>
                </a:solidFill>
                <a:latin typeface="courier"/>
              </a:rPr>
              <a:t>#</a:t>
            </a:r>
            <a:r>
              <a:rPr lang="ru-RU" altLang="ru-RU" sz="1400" dirty="0" smtClean="0">
                <a:solidFill>
                  <a:srgbClr val="4477FF"/>
                </a:solidFill>
                <a:latin typeface="courier"/>
              </a:rPr>
              <a:t>Создание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и удаление: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os.mkdir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new_folder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") 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Создать папку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os.makedirs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("a/b/c")   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Создать вложенные папки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os.remove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("file.txt")  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Удалить файл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os.rmdir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("folder")     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Удалить пустую папку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smtClean="0">
                <a:solidFill>
                  <a:srgbClr val="4477FF"/>
                </a:solidFill>
                <a:latin typeface="courier"/>
              </a:rPr>
              <a:t>#</a:t>
            </a:r>
            <a:r>
              <a:rPr lang="ru-RU" altLang="ru-RU" sz="1400" dirty="0" smtClean="0">
                <a:solidFill>
                  <a:srgbClr val="4477FF"/>
                </a:solidFill>
                <a:latin typeface="courier"/>
              </a:rPr>
              <a:t>Списки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файлов: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os.listdir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(".")        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Список файлов в директории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# Возвращает: ["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file1.txt", "file2.py", "folder</a:t>
            </a:r>
            <a:r>
              <a:rPr lang="en-US" altLang="ru-RU" sz="1400" dirty="0" smtClean="0">
                <a:solidFill>
                  <a:srgbClr val="4477FF"/>
                </a:solidFill>
                <a:latin typeface="courier"/>
              </a:rPr>
              <a:t>"]</a:t>
            </a:r>
          </a:p>
          <a:p>
            <a:pPr lvl="0"/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smtClean="0">
                <a:solidFill>
                  <a:srgbClr val="4477FF"/>
                </a:solidFill>
                <a:latin typeface="courier"/>
              </a:rPr>
              <a:t>#</a:t>
            </a:r>
            <a:r>
              <a:rPr lang="ru-RU" altLang="ru-RU" sz="1400" dirty="0" smtClean="0">
                <a:solidFill>
                  <a:srgbClr val="4477FF"/>
                </a:solidFill>
                <a:latin typeface="courier"/>
              </a:rPr>
              <a:t>Соединение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путей (правильно для любой ОС):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path =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os.path.join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("folder", "subfolder", "file.txt")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# Windows: "folder\subfolder\file.txt"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# Linux: "folder/subfolder/file.txt"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442B17A9-AC8C-444F-AE2D-F06F63DF1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34" y="1419786"/>
            <a:ext cx="6408789" cy="4524315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JSON (JavaScript Object Notation) —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текстовый формат для обмена данными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import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Сохранение в 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JSON (</a:t>
            </a:r>
            <a:r>
              <a:rPr lang="ru-RU" altLang="ru-RU" sz="1400" dirty="0" err="1">
                <a:solidFill>
                  <a:srgbClr val="4477FF"/>
                </a:solidFill>
                <a:latin typeface="courier"/>
              </a:rPr>
              <a:t>сериализация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):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data = {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    "name": "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Мария",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    "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age": 21,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    "courses": ["Python", "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Математика"],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    "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active": True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}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В строку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json_string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 =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json.dumps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(data,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ensure_ascii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=False, indent=2)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В файл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with open("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data.json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", "w", encoding="utf-8") as f: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   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json.dump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(data, f,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ensure_ascii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=False, indent=2)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endParaRPr lang="ru-RU" altLang="ru-RU" sz="1400" dirty="0">
              <a:solidFill>
                <a:srgbClr val="4477FF"/>
              </a:solidFill>
              <a:latin typeface="courier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442B17A9-AC8C-444F-AE2D-F06F63DF1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776" y="1847812"/>
            <a:ext cx="5531224" cy="301621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ru-RU" altLang="ru-RU" sz="1400" dirty="0" smtClean="0">
                <a:solidFill>
                  <a:srgbClr val="4477FF"/>
                </a:solidFill>
                <a:latin typeface="courier"/>
              </a:rPr>
              <a:t>Загрузка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из 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JSON (</a:t>
            </a:r>
            <a:r>
              <a:rPr lang="ru-RU" altLang="ru-RU" sz="1400" dirty="0" err="1">
                <a:solidFill>
                  <a:srgbClr val="4477FF"/>
                </a:solidFill>
                <a:latin typeface="courier"/>
              </a:rPr>
              <a:t>десериализация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):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# Из строки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data =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json.loads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json_string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)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Из файла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with open("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data.json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", "r", encoding="utf-8") as f: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    data =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json.load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(f)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Отличия от 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pickle: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• JSON —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текстовый, читаемый человеком, работает с другими языками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• 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pickle —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бинарный, только для 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Python,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может сохранить больше типов</a:t>
            </a:r>
            <a:endParaRPr lang="ru-RU" altLang="ru-RU" sz="1400" dirty="0">
              <a:solidFill>
                <a:srgbClr val="4477FF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Ошибки</a:t>
            </a:r>
            <a:endParaRPr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B4F400C5-80B9-42FF-804C-C6B969F04DE7}"/>
              </a:ext>
            </a:extLst>
          </p:cNvPr>
          <p:cNvSpPr/>
          <p:nvPr/>
        </p:nvSpPr>
        <p:spPr>
          <a:xfrm>
            <a:off x="663531" y="2260152"/>
            <a:ext cx="5450400" cy="2897015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Типичные ошибки: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FileNotFoundError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файл не найден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PermissionError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нет прав доступа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IsADirectoryError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это директория, а не файл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UnicodeDecodeError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проблема с кодировкой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B4F400C5-80B9-42FF-804C-C6B969F04DE7}"/>
              </a:ext>
            </a:extLst>
          </p:cNvPr>
          <p:cNvSpPr/>
          <p:nvPr/>
        </p:nvSpPr>
        <p:spPr>
          <a:xfrm>
            <a:off x="6391976" y="2146071"/>
            <a:ext cx="5450400" cy="3125176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Безопасная работа с файлами: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 Проверка существования перед открытием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os.path.exists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("file.txt"):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with open("file.txt", "r") as f: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data =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f.read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else: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print("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Файл не найден!")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Пример 1: Чтение конфигурационного файла</a:t>
            </a:r>
            <a:br/>
            <a:r>
              <a:t/>
            </a:r>
            <a:br/>
            <a:r>
              <a:t>with open("config.txt", "r", encoding="utf-8") as f:</a:t>
            </a:r>
            <a:br/>
            <a:r>
              <a:t>    for line in f:</a:t>
            </a:r>
            <a:br/>
            <a:r>
              <a:t>        key, value = line.strip().split("=")</a:t>
            </a:r>
            <a:br/>
            <a:r>
              <a:t>        print(f"{key}: {value}")</a:t>
            </a:r>
            <a:br/>
            <a:r>
              <a:t/>
            </a:r>
            <a:br/>
            <a:r>
              <a:t/>
            </a:r>
            <a:br/>
            <a:r>
              <a:t>Пример 2: Копирование файла</a:t>
            </a:r>
            <a:br/>
            <a:r>
              <a:t/>
            </a:r>
            <a:br/>
            <a:r>
              <a:t>with open("source.txt", "r") as source:</a:t>
            </a:r>
            <a:br/>
            <a:r>
              <a:t>    with open("destination.txt", "w") as dest:</a:t>
            </a:r>
            <a:br/>
            <a:r>
              <a:t>        dest.write(source.read())</a:t>
            </a:r>
            <a:br/>
            <a:r>
              <a:t/>
            </a:r>
            <a:br/>
            <a:r>
              <a:t/>
            </a:r>
            <a:br/>
            <a:r>
              <a:t>Пример 3: Подсчёт слов в файле</a:t>
            </a:r>
            <a:br/>
            <a:r>
              <a:t/>
            </a:r>
            <a:br/>
            <a:r>
              <a:t>with open("text.txt", "r", encoding="utf-8") as f:</a:t>
            </a:r>
            <a:br/>
            <a:r>
              <a:t>    text = f.read()</a:t>
            </a:r>
            <a:br/>
            <a:r>
              <a:t>    words = text.split()</a:t>
            </a:r>
            <a:br/>
            <a:r>
              <a:t>    print(f"Количество слов: {len(words)}")</a:t>
            </a:r>
            <a:br/>
            <a:r>
              <a:t/>
            </a:r>
            <a:br/>
            <a:r>
              <a:t/>
            </a:r>
            <a:br/>
            <a:r>
              <a:t>Пример 4: Логирование в файл</a:t>
            </a:r>
            <a:br/>
            <a:r>
              <a:t/>
            </a:r>
            <a:br/>
            <a:r>
              <a:t>with open("log.txt", "a", encoding="utf-8") as log:</a:t>
            </a:r>
            <a:br/>
            <a:r>
              <a:t>    from datetime import datetime</a:t>
            </a:r>
            <a:br/>
            <a:r>
              <a:t>    log.write(f"{datetime.now()}: Программа запущена\n")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22364</TotalTime>
  <Words>296</Words>
  <Application>Microsoft Office PowerPoint</Application>
  <PresentationFormat>Широкоэкранный</PresentationFormat>
  <Paragraphs>55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11</vt:i4>
      </vt:variant>
    </vt:vector>
  </HeadingPairs>
  <TitlesOfParts>
    <vt:vector size="21" baseType="lpstr">
      <vt:lpstr>Arial</vt:lpstr>
      <vt:lpstr>Arial Narrow</vt:lpstr>
      <vt:lpstr>Calibri</vt:lpstr>
      <vt:lpstr>courier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Байтовые строки</vt:lpstr>
      <vt:lpstr>Кодировки</vt:lpstr>
      <vt:lpstr>Файлы</vt:lpstr>
      <vt:lpstr>бНОПНЯ</vt:lpstr>
      <vt:lpstr>Сериализация</vt:lpstr>
      <vt:lpstr>Модуль os</vt:lpstr>
      <vt:lpstr>JSON</vt:lpstr>
      <vt:lpstr>Ошибки</vt:lpstr>
      <vt:lpstr>Презентация PowerPoint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1194</cp:revision>
  <cp:lastPrinted>2019-09-16T14:00:21Z</cp:lastPrinted>
  <dcterms:created xsi:type="dcterms:W3CDTF">2019-09-13T09:31:10Z</dcterms:created>
  <dcterms:modified xsi:type="dcterms:W3CDTF">2025-11-05T07:19:35Z</dcterms:modified>
</cp:coreProperties>
</file>