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3"/>
  </p:notesMasterIdLst>
  <p:handoutMasterIdLst>
    <p:handoutMasterId r:id="rId14"/>
  </p:handoutMasterIdLst>
  <p:sldIdLst>
    <p:sldId id="300" r:id="rId6"/>
    <p:sldId id="298" r:id="rId7"/>
    <p:sldId id="309" r:id="rId8"/>
    <p:sldId id="310" r:id="rId9"/>
    <p:sldId id="312" r:id="rId10"/>
    <p:sldId id="313" r:id="rId11"/>
    <p:sldId id="314" r:id="rId12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CBD7E9"/>
    <a:srgbClr val="4A596A"/>
    <a:srgbClr val="0079C2"/>
    <a:srgbClr val="8A9BAE"/>
    <a:srgbClr val="0051A3"/>
    <a:srgbClr val="004181"/>
    <a:srgbClr val="43B7F7"/>
    <a:srgbClr val="929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35" autoAdjust="0"/>
    <p:restoredTop sz="96318" autoAdjust="0"/>
  </p:normalViewPr>
  <p:slideViewPr>
    <p:cSldViewPr snapToGrid="0" showGuides="1">
      <p:cViewPr varScale="1">
        <p:scale>
          <a:sx n="85" d="100"/>
          <a:sy n="85" d="100"/>
        </p:scale>
        <p:origin x="619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28.10.2025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28.10.2025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marL="0" indent="0" algn="ctr">
              <a:lnSpc>
                <a:spcPts val="6000"/>
              </a:lnSpc>
              <a:buNone/>
            </a:pPr>
            <a:r>
              <a:rPr sz="4400" b="1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t>Введение в 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246928" y="1576867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 marL="0" indent="0">
              <a:buNone/>
            </a:pPr>
            <a:r>
              <a:rPr sz="4800"/>
              <a:t>Множества и словари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55489" y="1576867"/>
            <a:ext cx="1801583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sz="115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11.</a:t>
            </a:r>
            <a:endParaRPr lang="ru-RU" sz="115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35124" y="1416130"/>
            <a:ext cx="10766594" cy="3532387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Что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такое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hash()?</a:t>
            </a: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Функция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hash()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возвращает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целое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число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хеш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объекта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Это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число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вычисляется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один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раз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при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создании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объекта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и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остаётся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неизменным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Зачем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нужен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хеш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?</a:t>
            </a:r>
          </a:p>
          <a:p>
            <a:pPr marL="0" indent="0">
              <a:buNone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Сравнение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двух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объектов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может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быть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медленной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операцией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(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например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сравнение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длинных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строк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).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Хеш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позволяет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быстро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проверить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что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объекты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точно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НЕ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равны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: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если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hash(a) ≠ hash(b),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то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a ≠ b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гарантированно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Важное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свойство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: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если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a == b,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то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обязательно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hash(a) == hash(b).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Это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свойство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используется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в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множествах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и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словарях</a:t>
            </a:r>
            <a:r>
              <a:rPr sz="1800" dirty="0" smtClean="0">
                <a:solidFill>
                  <a:srgbClr val="0077C2"/>
                </a:solidFill>
                <a:latin typeface="Segoe UI"/>
              </a:rPr>
              <a:t>.</a:t>
            </a:r>
            <a:endParaRPr lang="en-US" sz="1800" dirty="0" smtClean="0">
              <a:solidFill>
                <a:srgbClr val="0077C2"/>
              </a:solidFill>
              <a:latin typeface="Segoe UI"/>
            </a:endParaRPr>
          </a:p>
          <a:p>
            <a:r>
              <a:rPr lang="ru-RU" sz="1800" dirty="0" err="1">
                <a:solidFill>
                  <a:srgbClr val="0077C2"/>
                </a:solidFill>
                <a:latin typeface="Segoe UI"/>
              </a:rPr>
              <a:t>Хеш</a:t>
            </a:r>
            <a:r>
              <a:rPr lang="ru-RU" sz="1800" dirty="0">
                <a:solidFill>
                  <a:srgbClr val="0077C2"/>
                </a:solidFill>
                <a:latin typeface="Segoe UI"/>
              </a:rPr>
              <a:t> работает только для неизменяемых </a:t>
            </a:r>
            <a:r>
              <a:rPr lang="ru-RU" sz="1800" dirty="0" smtClean="0">
                <a:solidFill>
                  <a:srgbClr val="0077C2"/>
                </a:solidFill>
                <a:latin typeface="Segoe UI"/>
              </a:rPr>
              <a:t>объектов</a:t>
            </a:r>
            <a:endParaRPr lang="ru-RU" sz="1800" dirty="0">
              <a:solidFill>
                <a:srgbClr val="0077C2"/>
              </a:solidFill>
              <a:latin typeface="Segoe UI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t>Введение в 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Функция hash() и хеширование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357649" y="5083422"/>
            <a:ext cx="3584315" cy="830997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buNone/>
              <a:tabLst/>
            </a:pPr>
            <a:r>
              <a:rPr sz="1100" dirty="0">
                <a:solidFill>
                  <a:srgbClr val="228B22"/>
                </a:solidFill>
                <a:latin typeface="courier"/>
              </a:rPr>
              <a:t># </a:t>
            </a:r>
            <a:r>
              <a:rPr sz="1100" dirty="0" err="1">
                <a:solidFill>
                  <a:srgbClr val="228B22"/>
                </a:solidFill>
                <a:latin typeface="courier"/>
              </a:rPr>
              <a:t>Хешируемые</a:t>
            </a:r>
            <a:endParaRPr sz="1100" dirty="0">
              <a:solidFill>
                <a:srgbClr val="228B22"/>
              </a:solidFill>
              <a:latin typeface="courier"/>
            </a:endParaRPr>
          </a:p>
          <a:p>
            <a:pPr marL="0" indent="0">
              <a:buNone/>
            </a:pPr>
            <a:r>
              <a:rPr sz="1100" dirty="0">
                <a:solidFill>
                  <a:srgbClr val="000000"/>
                </a:solidFill>
                <a:latin typeface="courier"/>
              </a:rPr>
              <a:t>hash("hello")  # OK</a:t>
            </a:r>
          </a:p>
          <a:p>
            <a:pPr marL="0" indent="0">
              <a:buNone/>
            </a:pPr>
            <a:r>
              <a:rPr sz="1100" dirty="0">
                <a:solidFill>
                  <a:srgbClr val="000000"/>
                </a:solidFill>
                <a:latin typeface="courier"/>
              </a:rPr>
              <a:t>hash((1, 2))   # OK</a:t>
            </a:r>
          </a:p>
          <a:p>
            <a:pPr marL="0" indent="0">
              <a:buNone/>
            </a:pPr>
            <a:r>
              <a:rPr sz="400" dirty="0">
                <a:latin typeface="courier"/>
              </a:rPr>
              <a:t> </a:t>
            </a:r>
          </a:p>
          <a:p>
            <a:pPr marL="0" indent="0">
              <a:buNone/>
            </a:pPr>
            <a:r>
              <a:rPr sz="1100" dirty="0">
                <a:solidFill>
                  <a:srgbClr val="228B22"/>
                </a:solidFill>
                <a:latin typeface="courier"/>
              </a:rPr>
              <a:t># </a:t>
            </a:r>
            <a:r>
              <a:rPr sz="1100" dirty="0" err="1">
                <a:solidFill>
                  <a:srgbClr val="228B22"/>
                </a:solidFill>
                <a:latin typeface="courier"/>
              </a:rPr>
              <a:t>Нехешируемые</a:t>
            </a:r>
            <a:endParaRPr sz="1100" dirty="0">
              <a:solidFill>
                <a:srgbClr val="228B22"/>
              </a:solidFill>
              <a:latin typeface="courier"/>
            </a:endParaRPr>
          </a:p>
          <a:p>
            <a:pPr marL="0" indent="0">
              <a:buNone/>
            </a:pPr>
            <a:r>
              <a:rPr sz="1100" dirty="0">
                <a:solidFill>
                  <a:srgbClr val="000000"/>
                </a:solidFill>
                <a:latin typeface="courier"/>
              </a:rPr>
              <a:t>hash([1, 2])   # Error</a:t>
            </a:r>
          </a:p>
        </p:txBody>
      </p:sp>
    </p:spTree>
    <p:extLst>
      <p:ext uri="{BB962C8B-B14F-4D97-AF65-F5344CB8AC3E}">
        <p14:creationId xmlns:p14="http://schemas.microsoft.com/office/powerpoint/2010/main" val="309422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84731" y="1711966"/>
            <a:ext cx="5706951" cy="3666858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Что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такое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множество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?</a:t>
            </a: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Множество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(set)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это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неупорядоченная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коллекция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уникальных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элементов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Каждый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элемент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может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встречаться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только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один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раз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</a:t>
            </a:r>
          </a:p>
          <a:p>
            <a:r>
              <a:rPr lang="ru-RU" sz="1800" b="1" dirty="0" smtClean="0">
                <a:solidFill>
                  <a:srgbClr val="0077C2"/>
                </a:solidFill>
                <a:latin typeface="Segoe UI"/>
              </a:rPr>
              <a:t>Важно</a:t>
            </a:r>
            <a:r>
              <a:rPr lang="ru-RU" sz="1800" b="1" dirty="0">
                <a:solidFill>
                  <a:srgbClr val="0077C2"/>
                </a:solidFill>
                <a:latin typeface="Segoe UI"/>
              </a:rPr>
              <a:t>: элементы множества </a:t>
            </a:r>
            <a:r>
              <a:rPr lang="ru-RU" sz="1800" b="1" dirty="0" err="1">
                <a:solidFill>
                  <a:srgbClr val="0077C2"/>
                </a:solidFill>
                <a:latin typeface="Segoe UI"/>
              </a:rPr>
              <a:t>неупорядочены</a:t>
            </a:r>
            <a:r>
              <a:rPr lang="ru-RU" sz="1800" b="1" dirty="0">
                <a:solidFill>
                  <a:srgbClr val="0077C2"/>
                </a:solidFill>
                <a:latin typeface="Segoe UI"/>
              </a:rPr>
              <a:t>! Нельзя обращаться по индексу.</a:t>
            </a:r>
          </a:p>
          <a:p>
            <a:pPr marL="0" indent="0">
              <a:buNone/>
            </a:pPr>
            <a:endParaRPr sz="1800" dirty="0">
              <a:solidFill>
                <a:srgbClr val="0077C2"/>
              </a:solidFill>
              <a:latin typeface="Segoe UI"/>
            </a:endParaRPr>
          </a:p>
          <a:p>
            <a:pPr mar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Применение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множеств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:</a:t>
            </a:r>
          </a:p>
          <a:p>
            <a:pPr marL="284480" indent="-142240" algn="l">
              <a:buChar char="•"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Удаление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дубликатов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из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списка</a:t>
            </a:r>
            <a:endParaRPr sz="1800" dirty="0">
              <a:solidFill>
                <a:srgbClr val="0077C2"/>
              </a:solidFill>
              <a:latin typeface="Segoe UI"/>
            </a:endParaRPr>
          </a:p>
          <a:p>
            <a:pPr marL="284480" indent="-142240" algn="l">
              <a:buChar char="•"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Проверка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принадлежности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элемента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(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быстро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!)</a:t>
            </a:r>
          </a:p>
          <a:p>
            <a:pPr marL="284480" indent="-142240" algn="l">
              <a:buChar char="•"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Математические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операции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: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объединение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пересечение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разность</a:t>
            </a:r>
            <a:endParaRPr sz="1800" dirty="0">
              <a:solidFill>
                <a:srgbClr val="0077C2"/>
              </a:solidFill>
              <a:latin typeface="Segoe UI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t>Введение в 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Множества в Python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221524" y="1711966"/>
            <a:ext cx="5706951" cy="3666858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>
              <a:buNone/>
            </a:pPr>
            <a:r>
              <a:rPr lang="ru-RU" sz="1800" b="1" dirty="0">
                <a:solidFill>
                  <a:srgbClr val="0077C2"/>
                </a:solidFill>
                <a:latin typeface="Segoe UI"/>
              </a:rPr>
              <a:t>Реализация через хеш-таблицу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ru-RU" sz="1800" dirty="0" err="1">
                <a:solidFill>
                  <a:srgbClr val="0077C2"/>
                </a:solidFill>
                <a:latin typeface="Segoe UI"/>
              </a:rPr>
              <a:t>Python</a:t>
            </a:r>
            <a:r>
              <a:rPr lang="ru-RU" sz="1800" dirty="0">
                <a:solidFill>
                  <a:srgbClr val="0077C2"/>
                </a:solidFill>
                <a:latin typeface="Segoe UI"/>
              </a:rPr>
              <a:t> использует хеш-таблицу для хранения множеств. Размер таблицы автоматически изменяется при добавлении элементов (как в списках).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77C2"/>
                </a:solidFill>
                <a:latin typeface="Segoe UI"/>
              </a:rPr>
              <a:t>Главное преимущество: операция проверки принадлежности (элемент </a:t>
            </a:r>
            <a:r>
              <a:rPr lang="ru-RU" sz="1800" dirty="0" err="1">
                <a:solidFill>
                  <a:srgbClr val="0077C2"/>
                </a:solidFill>
                <a:latin typeface="Segoe UI"/>
              </a:rPr>
              <a:t>in</a:t>
            </a:r>
            <a:r>
              <a:rPr lang="ru-RU" sz="1800" dirty="0">
                <a:solidFill>
                  <a:srgbClr val="0077C2"/>
                </a:solidFill>
                <a:latin typeface="Segoe UI"/>
              </a:rPr>
              <a:t> множество) работает за O(1) в среднем, в отличие от списков, где это O(n).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77C2"/>
                </a:solidFill>
                <a:latin typeface="Segoe UI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t>Введение в 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Операции с множествами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336816"/>
              </p:ext>
            </p:extLst>
          </p:nvPr>
        </p:nvGraphicFramePr>
        <p:xfrm>
          <a:off x="466164" y="985421"/>
          <a:ext cx="11304494" cy="535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2247"/>
                <a:gridCol w="565224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Операции</a:t>
                      </a:r>
                      <a:endParaRPr lang="ru-R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/>
                        <a:t>Описание</a:t>
                      </a:r>
                      <a:endParaRPr lang="ru-RU" sz="1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A | B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 err="1">
                          <a:effectLst/>
                        </a:rPr>
                        <a:t>A.union</a:t>
                      </a:r>
                      <a:r>
                        <a:rPr lang="en-US" sz="1800" b="1" dirty="0">
                          <a:effectLst/>
                        </a:rPr>
                        <a:t>(B)</a:t>
                      </a:r>
                    </a:p>
                  </a:txBody>
                  <a:tcPr marL="50808" marR="50808" marT="25404" marB="25404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Возвращает множество, являющееся объединением множеств A и B.</a:t>
                      </a:r>
                    </a:p>
                  </a:txBody>
                  <a:tcPr marL="50808" marR="50808" marT="25404" marB="2540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A &amp; B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 err="1">
                          <a:effectLst/>
                        </a:rPr>
                        <a:t>A.intersection</a:t>
                      </a:r>
                      <a:r>
                        <a:rPr lang="en-US" sz="1800" b="1" dirty="0">
                          <a:effectLst/>
                        </a:rPr>
                        <a:t>(B)</a:t>
                      </a:r>
                    </a:p>
                  </a:txBody>
                  <a:tcPr marL="50808" marR="50808" marT="25404" marB="25404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Возвращает множество, являющееся пересечением множеств A и B.</a:t>
                      </a:r>
                    </a:p>
                  </a:txBody>
                  <a:tcPr marL="50808" marR="50808" marT="25404" marB="2540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A - B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 err="1">
                          <a:effectLst/>
                        </a:rPr>
                        <a:t>A.difference</a:t>
                      </a:r>
                      <a:r>
                        <a:rPr lang="en-US" sz="1800" b="1" dirty="0">
                          <a:effectLst/>
                        </a:rPr>
                        <a:t>(B)</a:t>
                      </a:r>
                    </a:p>
                  </a:txBody>
                  <a:tcPr marL="50808" marR="50808" marT="25404" marB="25404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Возвращает разность множеств A и B (элементы, входящие в A, но не входящие в B).</a:t>
                      </a:r>
                    </a:p>
                  </a:txBody>
                  <a:tcPr marL="50808" marR="50808" marT="25404" marB="2540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A ^ B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 err="1">
                          <a:effectLst/>
                        </a:rPr>
                        <a:t>A.symmetric_difference</a:t>
                      </a:r>
                      <a:r>
                        <a:rPr lang="en-US" sz="1800" b="1" dirty="0">
                          <a:effectLst/>
                        </a:rPr>
                        <a:t>(B)</a:t>
                      </a:r>
                    </a:p>
                  </a:txBody>
                  <a:tcPr marL="50808" marR="50808" marT="25404" marB="25404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Возвращает симметрическую разность множеств A и B (элементы, входящие в A или в B, но не в оба из них одновременно).</a:t>
                      </a:r>
                    </a:p>
                  </a:txBody>
                  <a:tcPr marL="50808" marR="50808" marT="25404" marB="2540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effectLst/>
                        </a:rPr>
                        <a:t>A</a:t>
                      </a:r>
                      <a:r>
                        <a:rPr lang="en-US" sz="1800" b="1" baseline="0" dirty="0" smtClean="0">
                          <a:effectLst/>
                        </a:rPr>
                        <a:t> |= B, A &amp;= B, A -=B, A^= B</a:t>
                      </a:r>
                      <a:endParaRPr lang="en-US" sz="1800" b="1" dirty="0">
                        <a:effectLst/>
                      </a:endParaRPr>
                    </a:p>
                  </a:txBody>
                  <a:tcPr marL="50808" marR="50808" marT="25404" marB="25404" anchor="ctr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effectLst/>
                        </a:rPr>
                        <a:t>update</a:t>
                      </a:r>
                      <a:endParaRPr lang="ru-RU" sz="1800" dirty="0">
                        <a:effectLst/>
                      </a:endParaRPr>
                    </a:p>
                  </a:txBody>
                  <a:tcPr marL="50808" marR="50808" marT="25404" marB="2540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A &lt;= B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 err="1">
                          <a:effectLst/>
                        </a:rPr>
                        <a:t>A.issubset</a:t>
                      </a:r>
                      <a:r>
                        <a:rPr lang="en-US" sz="1800" b="1" dirty="0">
                          <a:effectLst/>
                        </a:rPr>
                        <a:t>(B)</a:t>
                      </a:r>
                    </a:p>
                  </a:txBody>
                  <a:tcPr marL="50808" marR="50808" marT="25404" marB="25404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Возвращает true, если A является подмножеством B.</a:t>
                      </a:r>
                    </a:p>
                  </a:txBody>
                  <a:tcPr marL="50808" marR="50808" marT="25404" marB="2540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A &gt;= B</a:t>
                      </a:r>
                      <a:br>
                        <a:rPr lang="en-US" sz="1800" b="1" dirty="0">
                          <a:effectLst/>
                        </a:rPr>
                      </a:br>
                      <a:r>
                        <a:rPr lang="en-US" sz="1800" b="1" dirty="0" err="1">
                          <a:effectLst/>
                        </a:rPr>
                        <a:t>A.issuperset</a:t>
                      </a:r>
                      <a:r>
                        <a:rPr lang="en-US" sz="1800" b="1" dirty="0">
                          <a:effectLst/>
                        </a:rPr>
                        <a:t>(B)</a:t>
                      </a:r>
                    </a:p>
                  </a:txBody>
                  <a:tcPr marL="50808" marR="50808" marT="25404" marB="25404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Возвращает true, если B является подмножеством A.</a:t>
                      </a:r>
                    </a:p>
                  </a:txBody>
                  <a:tcPr marL="50808" marR="50808" marT="25404" marB="2540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A &lt; B</a:t>
                      </a:r>
                    </a:p>
                  </a:txBody>
                  <a:tcPr marL="50808" marR="50808" marT="25404" marB="25404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Эквивалентно A &lt;= B and A != B</a:t>
                      </a:r>
                    </a:p>
                  </a:txBody>
                  <a:tcPr marL="50808" marR="50808" marT="25404" marB="25404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A &gt; B</a:t>
                      </a:r>
                    </a:p>
                  </a:txBody>
                  <a:tcPr marL="50808" marR="50808" marT="25404" marB="25404" anchor="ctr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Эквивалентно</a:t>
                      </a:r>
                      <a:r>
                        <a:rPr lang="en-US" sz="1800" dirty="0">
                          <a:effectLst/>
                        </a:rPr>
                        <a:t> A &gt;= B and A != B</a:t>
                      </a:r>
                    </a:p>
                  </a:txBody>
                  <a:tcPr marL="50808" marR="50808" marT="25404" marB="25404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77923" y="1299882"/>
            <a:ext cx="5378805" cy="4213412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Что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такое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словарь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?</a:t>
            </a: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Словарь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это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структура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данных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для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хранения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пар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"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: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значение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".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Каждому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ключу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соответствует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одно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значение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должны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быть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хешируемыми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(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неизменяемыми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), а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значения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могут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быть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любыми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объектами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Словари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реализованы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как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хеш-таблицы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поэтому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доступ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к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элементу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ключу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работает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за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O(1) в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среднем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очень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быстро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!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Типичные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применения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:</a:t>
            </a:r>
          </a:p>
          <a:p>
            <a:pPr marL="284480" indent="-142240" algn="l">
              <a:buChar char="•"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Подсчёт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частоты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элементов</a:t>
            </a:r>
            <a:endParaRPr sz="1800" dirty="0">
              <a:solidFill>
                <a:srgbClr val="0077C2"/>
              </a:solidFill>
              <a:latin typeface="Segoe UI"/>
            </a:endParaRPr>
          </a:p>
          <a:p>
            <a:pPr marL="284480" indent="-142240" algn="l">
              <a:buChar char="•"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Группировка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данных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признаку</a:t>
            </a:r>
            <a:endParaRPr sz="1800" dirty="0">
              <a:solidFill>
                <a:srgbClr val="0077C2"/>
              </a:solidFill>
              <a:latin typeface="Segoe UI"/>
            </a:endParaRPr>
          </a:p>
          <a:p>
            <a:pPr marL="284480" indent="-142240" algn="l">
              <a:buChar char="•"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Кэширование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результатов</a:t>
            </a:r>
            <a:endParaRPr sz="1800" dirty="0">
              <a:solidFill>
                <a:srgbClr val="0077C2"/>
              </a:solidFill>
              <a:latin typeface="Segoe UI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t>Введение в 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Словари (dict) в Python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266347" y="1299882"/>
            <a:ext cx="5378805" cy="4213412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Способы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создания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словарей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Литерал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(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фигурные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скобки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):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d = {"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имя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": "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Иван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", "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возраст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": 25}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Конструктор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dict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():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d =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dict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(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имя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="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Иван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",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возраст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=25)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Из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списка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пар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: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d =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dict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([("a", 1), ("b", 2)])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Dict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comprehension: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d = {k: v for k, v in pairs}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76535" y="1305621"/>
            <a:ext cx="5522241" cy="469242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Итерация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по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словарю</a:t>
            </a: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4480" indent="-142240" algn="l">
              <a:buChar char="•"/>
            </a:pPr>
            <a:r>
              <a:rPr sz="1800" dirty="0">
                <a:solidFill>
                  <a:srgbClr val="0077C2"/>
                </a:solidFill>
                <a:latin typeface="Segoe UI"/>
              </a:rPr>
              <a:t>keys()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получить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все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ключи</a:t>
            </a:r>
            <a:endParaRPr sz="1800" dirty="0">
              <a:solidFill>
                <a:srgbClr val="0077C2"/>
              </a:solidFill>
              <a:latin typeface="Segoe UI"/>
            </a:endParaRPr>
          </a:p>
          <a:p>
            <a:pPr marL="284480" indent="-142240" algn="l">
              <a:buChar char="•"/>
            </a:pPr>
            <a:r>
              <a:rPr sz="1800" dirty="0">
                <a:solidFill>
                  <a:srgbClr val="0077C2"/>
                </a:solidFill>
                <a:latin typeface="Segoe UI"/>
              </a:rPr>
              <a:t>values()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получить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все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значения</a:t>
            </a:r>
            <a:endParaRPr sz="1800" dirty="0">
              <a:solidFill>
                <a:srgbClr val="0077C2"/>
              </a:solidFill>
              <a:latin typeface="Segoe UI"/>
            </a:endParaRPr>
          </a:p>
          <a:p>
            <a:pPr marL="284480" indent="-142240" algn="l">
              <a:buChar char="•"/>
            </a:pPr>
            <a:r>
              <a:rPr sz="1800" dirty="0">
                <a:solidFill>
                  <a:srgbClr val="0077C2"/>
                </a:solidFill>
                <a:latin typeface="Segoe UI"/>
              </a:rPr>
              <a:t>items()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получить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пары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(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значение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)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Изменение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словаря</a:t>
            </a:r>
            <a:endParaRPr sz="1800" b="1" dirty="0">
              <a:solidFill>
                <a:srgbClr val="0077C2"/>
              </a:solidFill>
              <a:latin typeface="Segoe UI"/>
            </a:endParaRPr>
          </a:p>
          <a:p>
            <a:pPr marL="284480" indent="-142240" algn="l">
              <a:buChar char="•"/>
            </a:pPr>
            <a:r>
              <a:rPr sz="1800" dirty="0">
                <a:solidFill>
                  <a:srgbClr val="0077C2"/>
                </a:solidFill>
                <a:latin typeface="Segoe UI"/>
              </a:rPr>
              <a:t>update(other)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добавить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все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пары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из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другого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словаря</a:t>
            </a:r>
            <a:endParaRPr sz="1800" dirty="0">
              <a:solidFill>
                <a:srgbClr val="0077C2"/>
              </a:solidFill>
              <a:latin typeface="Segoe UI"/>
            </a:endParaRPr>
          </a:p>
          <a:p>
            <a:pPr marL="284480" indent="-142240" algn="l">
              <a:buChar char="•"/>
            </a:pPr>
            <a:r>
              <a:rPr sz="1800" dirty="0">
                <a:solidFill>
                  <a:srgbClr val="0077C2"/>
                </a:solidFill>
                <a:latin typeface="Segoe UI"/>
              </a:rPr>
              <a:t>d1 | d2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объединение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словарей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(Python 3.9+)</a:t>
            </a:r>
          </a:p>
          <a:p>
            <a:pPr marL="284480" indent="-142240" algn="l">
              <a:buChar char="•"/>
            </a:pPr>
            <a:r>
              <a:rPr sz="1800" dirty="0">
                <a:solidFill>
                  <a:srgbClr val="0077C2"/>
                </a:solidFill>
                <a:latin typeface="Segoe UI"/>
              </a:rPr>
              <a:t>d1 |= d2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обновить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d1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из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smtClean="0">
                <a:solidFill>
                  <a:srgbClr val="0077C2"/>
                </a:solidFill>
                <a:latin typeface="Segoe UI"/>
              </a:rPr>
              <a:t>d2</a:t>
            </a:r>
            <a:endParaRPr lang="ru-RU" sz="1800" dirty="0" smtClean="0">
              <a:solidFill>
                <a:srgbClr val="0077C2"/>
              </a:solidFill>
              <a:latin typeface="Segoe UI"/>
            </a:endParaRPr>
          </a:p>
          <a:p>
            <a:pPr marL="284480" indent="-142240" algn="l">
              <a:buChar char="•"/>
            </a:pPr>
            <a:endParaRPr lang="ru-RU" sz="1800" dirty="0">
              <a:solidFill>
                <a:srgbClr val="0077C2"/>
              </a:solidFill>
              <a:latin typeface="Segoe UI"/>
            </a:endParaRPr>
          </a:p>
          <a:p>
            <a:pPr marL="0" indent="0">
              <a:buNone/>
            </a:pPr>
            <a:r>
              <a:rPr lang="ru-RU" sz="1800" b="1" dirty="0">
                <a:solidFill>
                  <a:srgbClr val="0077C2"/>
                </a:solidFill>
                <a:latin typeface="Segoe UI"/>
              </a:rPr>
              <a:t>Полезные инструменты</a:t>
            </a:r>
          </a:p>
          <a:p>
            <a:pPr marL="284480" indent="-142240">
              <a:buChar char="•"/>
            </a:pPr>
            <a:r>
              <a:rPr lang="ru-RU" sz="1800" dirty="0" err="1">
                <a:solidFill>
                  <a:srgbClr val="0077C2"/>
                </a:solidFill>
                <a:latin typeface="Segoe UI"/>
              </a:rPr>
              <a:t>globals</a:t>
            </a:r>
            <a:r>
              <a:rPr lang="ru-RU" sz="1800" dirty="0">
                <a:solidFill>
                  <a:srgbClr val="0077C2"/>
                </a:solidFill>
                <a:latin typeface="Segoe UI"/>
              </a:rPr>
              <a:t>() и </a:t>
            </a:r>
            <a:r>
              <a:rPr lang="ru-RU" sz="1800" dirty="0" err="1">
                <a:solidFill>
                  <a:srgbClr val="0077C2"/>
                </a:solidFill>
                <a:latin typeface="Segoe UI"/>
              </a:rPr>
              <a:t>locals</a:t>
            </a:r>
            <a:r>
              <a:rPr lang="ru-RU" sz="1800" dirty="0">
                <a:solidFill>
                  <a:srgbClr val="0077C2"/>
                </a:solidFill>
                <a:latin typeface="Segoe UI"/>
              </a:rPr>
              <a:t>() — словари переменных</a:t>
            </a:r>
          </a:p>
          <a:p>
            <a:pPr marL="284480" indent="-142240">
              <a:buChar char="•"/>
            </a:pPr>
            <a:r>
              <a:rPr lang="ru-RU" sz="1800" dirty="0" err="1">
                <a:solidFill>
                  <a:srgbClr val="0077C2"/>
                </a:solidFill>
                <a:latin typeface="Segoe UI"/>
              </a:rPr>
              <a:t>Counter</a:t>
            </a:r>
            <a:r>
              <a:rPr lang="ru-RU" sz="1800" dirty="0">
                <a:solidFill>
                  <a:srgbClr val="0077C2"/>
                </a:solidFill>
                <a:latin typeface="Segoe UI"/>
              </a:rPr>
              <a:t> — подсчёт частоты </a:t>
            </a:r>
            <a:r>
              <a:rPr lang="ru-RU" sz="1800" dirty="0" smtClean="0">
                <a:solidFill>
                  <a:srgbClr val="0077C2"/>
                </a:solidFill>
                <a:latin typeface="Segoe UI"/>
              </a:rPr>
              <a:t>элементов</a:t>
            </a:r>
            <a:endParaRPr lang="ru-RU" sz="1800" dirty="0">
              <a:solidFill>
                <a:srgbClr val="0077C2"/>
              </a:solidFill>
              <a:latin typeface="Segoe UI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t>Введение в 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Работа со словарями: основные методы</a:t>
            </a:r>
            <a:endParaRPr lang="ru-RU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364942" y="1305620"/>
            <a:ext cx="5405718" cy="4692427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lvl="0" indent="0">
              <a:buNone/>
            </a:pPr>
            <a:r>
              <a:rPr sz="1800" b="1" dirty="0" err="1">
                <a:solidFill>
                  <a:srgbClr val="0077C2"/>
                </a:solidFill>
                <a:latin typeface="Segoe UI"/>
              </a:rPr>
              <a:t>Три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способа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доступа</a:t>
            </a:r>
            <a:r>
              <a:rPr sz="1800" b="1" dirty="0">
                <a:solidFill>
                  <a:srgbClr val="0077C2"/>
                </a:solidFill>
                <a:latin typeface="Segoe UI"/>
              </a:rPr>
              <a:t> к </a:t>
            </a:r>
            <a:r>
              <a:rPr sz="1800" b="1" dirty="0" err="1">
                <a:solidFill>
                  <a:srgbClr val="0077C2"/>
                </a:solidFill>
                <a:latin typeface="Segoe UI"/>
              </a:rPr>
              <a:t>элементам</a:t>
            </a:r>
            <a:endParaRPr lang="ru-RU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d[key]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прямой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доступ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Вызовет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KeyError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если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нет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в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словаре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Используйте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когда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уверены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что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есть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d.get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(key)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безопасный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доступ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Вернёт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None,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если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ключа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нет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Можно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указать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значение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по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умолчанию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: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d.get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(key, default).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  <a:p>
            <a:pPr marL="0" indent="0">
              <a:buNone/>
            </a:pPr>
            <a:r>
              <a:rPr sz="1800" dirty="0" err="1">
                <a:solidFill>
                  <a:srgbClr val="0077C2"/>
                </a:solidFill>
                <a:latin typeface="Segoe UI"/>
              </a:rPr>
              <a:t>d.setdefault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(key, value) —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вернёт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d[key],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если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ключ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есть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,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иначе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установит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d[key] = value и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вернёт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value.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Удобно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для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накопления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77C2"/>
                </a:solidFill>
                <a:latin typeface="Segoe UI"/>
              </a:rPr>
              <a:t>данных</a:t>
            </a:r>
            <a:r>
              <a:rPr sz="1800" dirty="0">
                <a:solidFill>
                  <a:srgbClr val="0077C2"/>
                </a:solidFill>
                <a:latin typeface="Segoe UI"/>
              </a:rPr>
              <a:t>.</a:t>
            </a:r>
          </a:p>
          <a:p>
            <a:pPr marL="0" indent="0">
              <a:buNone/>
            </a:pPr>
            <a:r>
              <a:rPr sz="1800" dirty="0">
                <a:solidFill>
                  <a:srgbClr val="0077C2"/>
                </a:solidFill>
                <a:latin typeface="Segoe UI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22358</TotalTime>
  <Words>641</Words>
  <Application>Microsoft Office PowerPoint</Application>
  <PresentationFormat>Широкоэкранный</PresentationFormat>
  <Paragraphs>103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7</vt:i4>
      </vt:variant>
    </vt:vector>
  </HeadingPairs>
  <TitlesOfParts>
    <vt:vector size="17" baseType="lpstr">
      <vt:lpstr>Arial</vt:lpstr>
      <vt:lpstr>Arial Narrow</vt:lpstr>
      <vt:lpstr>Calibri</vt:lpstr>
      <vt:lpstr>courier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Функция hash() и хеширование</vt:lpstr>
      <vt:lpstr>Множества в Python</vt:lpstr>
      <vt:lpstr>Операции с множествами</vt:lpstr>
      <vt:lpstr>Словари (dict) в Python</vt:lpstr>
      <vt:lpstr>Работа со словарями: основные методы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1195</cp:revision>
  <cp:lastPrinted>2019-09-16T14:00:21Z</cp:lastPrinted>
  <dcterms:created xsi:type="dcterms:W3CDTF">2019-09-13T09:31:10Z</dcterms:created>
  <dcterms:modified xsi:type="dcterms:W3CDTF">2025-10-28T09:21:07Z</dcterms:modified>
</cp:coreProperties>
</file>