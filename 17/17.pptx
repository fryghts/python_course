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9"/>
  </p:notesMasterIdLst>
  <p:handoutMasterIdLst>
    <p:handoutMasterId r:id="rId20"/>
  </p:handoutMasterIdLst>
  <p:sldIdLst>
    <p:sldId id="300" r:id="rId6"/>
    <p:sldId id="298" r:id="rId7"/>
    <p:sldId id="309" r:id="rId8"/>
    <p:sldId id="310" r:id="rId9"/>
    <p:sldId id="311" r:id="rId10"/>
    <p:sldId id="317" r:id="rId11"/>
    <p:sldId id="314" r:id="rId12"/>
    <p:sldId id="318" r:id="rId13"/>
    <p:sldId id="319" r:id="rId14"/>
    <p:sldId id="322" r:id="rId15"/>
    <p:sldId id="323" r:id="rId16"/>
    <p:sldId id="324" r:id="rId17"/>
    <p:sldId id="325" r:id="rId18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54" d="100"/>
          <a:sy n="54" d="100"/>
        </p:scale>
        <p:origin x="211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/>
              <a:t>Введение в </a:t>
            </a:r>
            <a:r>
              <a:rPr lang="en-US" altLang="ru-RU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uneex.ru/LecturesCMC/PythonIntro2022/08_ObjectModel#FrBrGeorge.2FClassesInPython3.CA-3b39e55b693f32ae7ef30f8a09e1a358dc765221_5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neex.ru/LecturesCMC/PythonIntro2022/08_ObjectModel#FrBrGeorge.2FClassesInPython3.CA-0538ff0911aa8520cda909b89609229dcb74d6f2_2" TargetMode="External"/><Relationship Id="rId2" Type="http://schemas.openxmlformats.org/officeDocument/2006/relationships/hyperlink" Target="http://uneex.ru/LecturesCMC/PythonIntro2022/08_ObjectModel#FrBrGeorge.2FClassesInPython3.CA-0538ff0911aa8520cda909b89609229dcb74d6f2_1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uneex.ru/LecturesCMC/PythonIntro2022/08_ObjectModel#FrBrGeorge.2FClassesInPython3.CA-0538ff0911aa8520cda909b89609229dcb74d6f2_4" TargetMode="External"/><Relationship Id="rId4" Type="http://schemas.openxmlformats.org/officeDocument/2006/relationships/hyperlink" Target="http://uneex.ru/LecturesCMC/PythonIntro2022/08_ObjectModel#FrBrGeorge.2FClassesInPython3.CA-0538ff0911aa8520cda909b89609229dcb74d6f2_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honworld.ru/tipy-dannyx-v-python/bajty-bytes-i-bytearray.html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/>
              <a:t>Объектная модель</a:t>
            </a:r>
          </a:p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800" dirty="0"/>
              <a:t>Python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28715" y="1562154"/>
            <a:ext cx="2204450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1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7.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99186" y="1519882"/>
            <a:ext cx="10793628" cy="428161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Объектно-ориентированное программирование – Поддержка в ЯП объектного проектирования.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ООП – подход к программированию как к моделированию некой сложной сущности в виде иерархии классов и порождаемых ими объектов.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Объектный анализ: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Анализ прикладного поля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Выявление прикладных объектов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Описание их свойств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Генерализация их свойств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Выявление общих свойств 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Построение иерархии свойств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Объектные программы можно писать и на процедурных языках.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/>
              <a:t>Введение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ООП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Принципы ООП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67402" y="1427205"/>
            <a:ext cx="10903430" cy="447314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Абстракция (общее/частное). Примеры «вертикальной» абстракции: класс/экземпляр класса, базовый класс/производный класс и т. п. (Python: +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метакласс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Инкапсуляция: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минимализация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необходимого информационно пространства; часто — за счёт создания иерархии пространств имён (большинство языков: размещение в одном компоненте данных и методов, которые с ними работают). Не путать с сокрытием.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Наследование: повторное использование свойств объектов с описанием различий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Полиморфизм: возможность для одного и того же кода обрабатывать данные разных типов (Python: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duck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typing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Атрибуты объектов: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Методы – любые вызываемые объекты(функции)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Поля – не вызываемые объекты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3370" y="1244812"/>
            <a:ext cx="10827312" cy="409330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Стандартные объекты — например, кортежи — рождаются с полями.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Этих полей довольно много, но все они какие-то служебные и нам сейчас не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интресны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 А впихивать новые поля в стандартный объект нельзя.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Но можно самому создать объект. Для этого надо с помощью оператора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class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описать конструктор этого объекта, а потом вызвать этот конструктор. Он вернёт объект — ровно такой, как заказывали.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Например, пустой: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 — конструктор объекта, а c — сконструированный им объект (или «экземпляр»,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instance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Поля классов и объектов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8AD05CEF-4CB8-41A1-9EB0-56438F9D2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616" y="3661284"/>
            <a:ext cx="1370287" cy="738664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600" dirty="0">
                <a:solidFill>
                  <a:srgbClr val="4477FF"/>
                </a:solidFill>
                <a:latin typeface="courier"/>
              </a:rPr>
              <a:t>1</a:t>
            </a:r>
            <a:r>
              <a:rPr lang="ru-RU" altLang="ru-RU" sz="1600" dirty="0"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class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C: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  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pass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3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lang="en-US" altLang="ru-RU" sz="1600" dirty="0">
                <a:latin typeface="courier"/>
              </a:rPr>
              <a:t>c</a:t>
            </a:r>
            <a:r>
              <a:rPr lang="ru-RU" altLang="ru-RU" sz="1600" dirty="0">
                <a:latin typeface="courier"/>
              </a:rPr>
              <a:t> </a:t>
            </a:r>
            <a:r>
              <a:rPr lang="en-US" altLang="ru-RU" sz="1600" dirty="0">
                <a:latin typeface="courier"/>
              </a:rPr>
              <a:t>=</a:t>
            </a:r>
            <a:r>
              <a:rPr lang="ru-RU" altLang="ru-RU" sz="1600" dirty="0">
                <a:latin typeface="courier"/>
              </a:rPr>
              <a:t> </a:t>
            </a:r>
            <a:r>
              <a:rPr lang="en-US" altLang="ru-RU" sz="1600" dirty="0">
                <a:latin typeface="courier"/>
              </a:rPr>
              <a:t>C()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Поля классов и объектов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0897" y="1105930"/>
            <a:ext cx="11290693" cy="4862384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такой объект можно самому добавить какие хочешь поля.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Поля, добавленные в объект, в самом классе не появляются. Но и в сам класс (конструктор) тоже можно добавить какие хочешь поля:</a:t>
            </a: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Эти поля тут же становятся видны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видны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во всех экземплярах. Если в самом экземпляре поля нет, Python смотрит, а нет ли его в классе.</a:t>
            </a:r>
          </a:p>
          <a:p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Можно создавать атрибуты с помощью </a:t>
            </a:r>
            <a:r>
              <a:rPr 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setattr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061EC661-2A87-4BC0-9B8C-CF220AC3C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0" y="1856954"/>
            <a:ext cx="2862963" cy="738664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c.new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"QQ"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2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dir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3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'__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class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__'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…,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]	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4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c.new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2"/>
              </a:rPr>
              <a:t>5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'QQ'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244EFF0C-9587-455A-AA06-8D86CE452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0" y="3447535"/>
            <a:ext cx="3440044" cy="1292662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C.strange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=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"NN"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2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dir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3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'__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class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__'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…,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strange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4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dir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5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[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'__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class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__'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…,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,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strange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6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&gt;&gt;&gt;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c.strange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</a:rPr>
              <a:t>7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4080"/>
                </a:solidFill>
                <a:effectLst/>
                <a:latin typeface="courier"/>
              </a:rPr>
              <a:t>'NN'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40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Методы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62375" y="1570812"/>
            <a:ext cx="10940277" cy="401097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Функция вообще ничем не отличается от метода класса, кроме того, что она посылает экземпляр класса как аргумент. Принято называть его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self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Если задать специальный метод __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__(), конструктор его вызовет в процессе создания объекта (точнее — сразу после создания, но перед тем, как отдавать в программу результат). Там-то можно все поля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свежесозданного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но незаполненного ещё объекта и заполнить.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Более того, если передать какие-то параметры конструктору, он их передаст в __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__() (разумеется, вместе со ссылкой на объект в качестве первого параметра)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xmlns="" id="{62AC32D7-6274-4025-8853-F40EEF38B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132" y="2654632"/>
            <a:ext cx="2231380" cy="738664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2"/>
              </a:rPr>
              <a:t>1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class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J: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3"/>
              </a:rPr>
              <a:t>2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t =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80C0"/>
                </a:solidFill>
                <a:effectLst/>
                <a:latin typeface="courier"/>
              </a:rPr>
              <a:t>42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4"/>
              </a:rPr>
              <a:t>3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def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answer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self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):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4477FF"/>
                </a:solidFill>
                <a:effectLst/>
                <a:latin typeface="courier"/>
                <a:hlinkClick r:id="rId5"/>
              </a:rPr>
              <a:t>4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 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   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A00000"/>
                </a:solidFill>
                <a:effectLst/>
                <a:latin typeface="courier"/>
              </a:rPr>
              <a:t>print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(</a:t>
            </a:r>
            <a:r>
              <a:rPr kumimoji="0" lang="en-US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self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"/>
              </a:rPr>
              <a:t>.t)</a:t>
            </a:r>
            <a:r>
              <a:rPr kumimoji="0" lang="ru-RU" altLang="ru-RU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Коротко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56196" y="1352549"/>
            <a:ext cx="10940277" cy="4326722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Класс — это пространство имён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Класс — это изготовитель(чтобы не сказать «конструктор») объекта — экземпляра класса, т. е. такой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callable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У класса (объекта) есть атрибуты.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Callable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-атрибуты называются методы, не-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callable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называются поля.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Все поля класса видны в объекте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До тех пор, пока их не загородят уникальные поля объекта с теми же именами (аналог: глобальные и локальные переменные)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При этом функции класса превращаются в методы объекта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Метод — это такая функция внутри пространства имён объекта, при вызове которой в начало кортежа параметров ставится сам объект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Специальный метод __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init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__() нужен для создания полей объекта и вообще логики его создания</a:t>
            </a:r>
          </a:p>
        </p:txBody>
      </p:sp>
    </p:spTree>
    <p:extLst>
      <p:ext uri="{BB962C8B-B14F-4D97-AF65-F5344CB8AC3E}">
        <p14:creationId xmlns:p14="http://schemas.microsoft.com/office/powerpoint/2010/main" val="77151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Перегрузка операций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50018" y="1047205"/>
            <a:ext cx="10940277" cy="533282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77C2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В питоне нет никаких операций, есть синтаксический сахар и протоколы над методами.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077C2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new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cls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[, ...]) — управляет созданием экземпляра. В качестве обязательного аргумента принимает класс (не путать с экземпляром). Должен возвращать экземпляр класса для его последующей его передачи методу 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init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init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[, ...]) - как уже было сказано выше, конструктор.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del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 при удалении объекта сборщиком мусора.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repr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 встроенной функцией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repr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; возвращает "сырые" данные, использующиеся для внутреннего представления в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python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str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 функциями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str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print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и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format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. Возвращает строковое представление объекта.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bytes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 функцией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bytes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при преобразовании к 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байтам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format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format_spec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используется функцией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format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(а также методом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format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у строк).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lt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&lt;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lt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le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≤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le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eq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==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eq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ne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!=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ne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gt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&gt;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gt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ge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other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x ≥ y вызывает x.__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ge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__(y).</a:t>
            </a:r>
          </a:p>
        </p:txBody>
      </p:sp>
    </p:spTree>
    <p:extLst>
      <p:ext uri="{BB962C8B-B14F-4D97-AF65-F5344CB8AC3E}">
        <p14:creationId xmlns:p14="http://schemas.microsoft.com/office/powerpoint/2010/main" val="380445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Перегрузка операций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50018" y="1047205"/>
            <a:ext cx="10940277" cy="533282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hash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получение хэш-суммы объекта, например, для добавления в словарь.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bool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 при проверке истинности. Если этот метод не определён, вызывается метод __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len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__ (объекты, имеющие ненулевую длину, считаются истинными).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getattr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name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вызывается, когда атрибут экземпляра класса не найден в обычных местах (например, у экземпляра нет метода с таким названием).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setattr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name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value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назначение атрибута.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delattr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name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удаление атрибута 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del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obj.name).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call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[,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args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...]) - вызов экземпляра класса как функции.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len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длина объекта.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getitem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key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доступ по индексу (или ключу).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setitem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key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value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назначение элемента по индексу.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delitem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key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удаление элемента по индексу.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iter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возвращает итератор для контейнера.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reversed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итератор из элементов, следующих в обратном порядке.</a:t>
            </a:r>
          </a:p>
          <a:p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b="1" dirty="0" err="1">
                <a:solidFill>
                  <a:srgbClr val="0077C2"/>
                </a:solidFill>
                <a:latin typeface="Helvetica" panose="020B0604020202020204" pitchFamily="34" charset="0"/>
              </a:rPr>
              <a:t>contains</a:t>
            </a:r>
            <a:r>
              <a:rPr lang="ru-RU" sz="1800" b="1" dirty="0">
                <a:solidFill>
                  <a:srgbClr val="0077C2"/>
                </a:solidFill>
                <a:latin typeface="Helvetica" panose="020B0604020202020204" pitchFamily="34" charset="0"/>
              </a:rPr>
              <a:t>__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,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item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 - проверка на принадлежность элемента контейнеру (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item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in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 </a:t>
            </a:r>
            <a:r>
              <a:rPr lang="ru-RU" sz="1800" dirty="0" err="1">
                <a:solidFill>
                  <a:srgbClr val="0077C2"/>
                </a:solidFill>
                <a:latin typeface="Helvetica" panose="020B0604020202020204" pitchFamily="34" charset="0"/>
              </a:rPr>
              <a:t>self</a:t>
            </a:r>
            <a:r>
              <a:rPr lang="ru-RU" sz="1800" dirty="0">
                <a:solidFill>
                  <a:srgbClr val="0077C2"/>
                </a:solidFill>
                <a:latin typeface="Helvetica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1468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Перегрузка арифметических операторов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50018" y="1047205"/>
            <a:ext cx="10940277" cy="533282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__add__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сложение.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+ y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вызывает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x.__add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__(y).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__sub__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вычитание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-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mul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умножение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*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truediv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деление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/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floordiv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целочисленное деление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//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__mod__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остаток от деления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%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divmod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частное и остаток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divmod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(x, y)).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__pow__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other[, modulo])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возведение в степень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** y, pow(x, y[, modulo])).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lshift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битовый сдвиг влево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&lt;&lt;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битовый сдвиг вправо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&gt;&gt;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__and__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битовое И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&amp;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xor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битовое ИСКЛЮЧАЮЩЕЕ ИЛИ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^ 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__or__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битовое ИЛИ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| y).</a:t>
            </a:r>
          </a:p>
        </p:txBody>
      </p:sp>
    </p:spTree>
    <p:extLst>
      <p:ext uri="{BB962C8B-B14F-4D97-AF65-F5344CB8AC3E}">
        <p14:creationId xmlns:p14="http://schemas.microsoft.com/office/powerpoint/2010/main" val="90267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Перегрузка арифметических операторов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550018" y="1047205"/>
            <a:ext cx="10940277" cy="533282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radd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rsub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rmul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rtruediv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rfloordiv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rmod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rdivmod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rpow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rlshift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rrshift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__rand__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rxor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ror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Делают то же самое, что и арифметические операторы, перечисленные выше, но для аргументов, находящихся справа, и только в случае, если для левого операнда не определён соответствующий метод.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Например, операция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 + y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будет сначала пытаться вызвать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x.__add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__(y),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и только в том случае, если это не получилось, будет пытаться вызвать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y.__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radd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__(x).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Аналогично для остальных 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93733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Введение в </a:t>
            </a:r>
            <a:r>
              <a:rPr lang="en-US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/>
              <a:t>Перегрузка арифметических операторов</a:t>
            </a:r>
            <a:endParaRPr lang="ru-RU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279CDEEB-3D7D-4C5A-9947-688C7DAAB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50" y="1570812"/>
            <a:ext cx="638773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B4F400C5-80B9-42FF-804C-C6B969F04DE7}"/>
              </a:ext>
            </a:extLst>
          </p:cNvPr>
          <p:cNvSpPr/>
          <p:nvPr/>
        </p:nvSpPr>
        <p:spPr>
          <a:xfrm>
            <a:off x="401595" y="1670412"/>
            <a:ext cx="5550100" cy="369311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iadd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+=.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isub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-=.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imul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*=.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itruediv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/=.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ifloordiv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//=.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imod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%=.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ipow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other[, modulo]) - **=.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ilshift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&lt;&lt;=.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irshift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&gt;&gt;=.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iand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&amp;=.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ixor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^=.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52071A97-7813-4C4E-8EB6-FEA5121FFDD8}"/>
              </a:ext>
            </a:extLst>
          </p:cNvPr>
          <p:cNvSpPr/>
          <p:nvPr/>
        </p:nvSpPr>
        <p:spPr>
          <a:xfrm>
            <a:off x="6194996" y="1670412"/>
            <a:ext cx="5595409" cy="369311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ior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other) - |=.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__neg__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унарный -.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pos__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унарный +.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abs__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модуль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abs()).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__invert__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инверсия (~).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complex__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приведение к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complex.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__int__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приведение к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int.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__float__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приведение к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float.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__round__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(self[, n])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округление.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enter__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(self),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__exit__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(self,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exc_type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exc_value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, traceback) - </a:t>
            </a:r>
            <a:r>
              <a: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srgbClr val="0077C2"/>
                </a:solidFill>
                <a:effectLst/>
                <a:uLnTx/>
                <a:uFillTx/>
                <a:latin typeface="Helvetica" panose="020B0604020202020204" pitchFamily="34" charset="0"/>
                <a:cs typeface="Helvetica" panose="020B0604020202020204" pitchFamily="34" charset="0"/>
                <a:sym typeface="Arial"/>
              </a:rPr>
              <a:t>реализация менеджеров контекста.</a:t>
            </a:r>
          </a:p>
        </p:txBody>
      </p:sp>
    </p:spTree>
    <p:extLst>
      <p:ext uri="{BB962C8B-B14F-4D97-AF65-F5344CB8AC3E}">
        <p14:creationId xmlns:p14="http://schemas.microsoft.com/office/powerpoint/2010/main" val="368558642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22361</TotalTime>
  <Words>1194</Words>
  <Application>Microsoft Office PowerPoint</Application>
  <PresentationFormat>Широкоэкранный</PresentationFormat>
  <Paragraphs>190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13</vt:i4>
      </vt:variant>
    </vt:vector>
  </HeadingPairs>
  <TitlesOfParts>
    <vt:vector size="24" baseType="lpstr">
      <vt:lpstr>Arial</vt:lpstr>
      <vt:lpstr>Arial Narrow</vt:lpstr>
      <vt:lpstr>Calibri</vt:lpstr>
      <vt:lpstr>courier</vt:lpstr>
      <vt:lpstr>Helvetica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ООП</vt:lpstr>
      <vt:lpstr>Принципы ООП</vt:lpstr>
      <vt:lpstr>Поля классов и объектов</vt:lpstr>
      <vt:lpstr>Поля классов и объектов</vt:lpstr>
      <vt:lpstr>Методы</vt:lpstr>
      <vt:lpstr>Коротко</vt:lpstr>
      <vt:lpstr>Перегрузка операций</vt:lpstr>
      <vt:lpstr>Перегрузка операций</vt:lpstr>
      <vt:lpstr>Перегрузка арифметических операторов</vt:lpstr>
      <vt:lpstr>Перегрузка арифметических операторов</vt:lpstr>
      <vt:lpstr>Перегрузка арифметических операторов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1195</cp:revision>
  <cp:lastPrinted>2019-09-16T14:00:21Z</cp:lastPrinted>
  <dcterms:created xsi:type="dcterms:W3CDTF">2019-09-13T09:31:10Z</dcterms:created>
  <dcterms:modified xsi:type="dcterms:W3CDTF">2025-11-27T08:43:23Z</dcterms:modified>
</cp:coreProperties>
</file>